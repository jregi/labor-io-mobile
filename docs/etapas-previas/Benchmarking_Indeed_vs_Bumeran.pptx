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20EDB0A-AE5B-4DA6-B2E4-3D6F3A460D80}">
  <a:tblStyle styleId="{E20EDB0A-AE5B-4DA6-B2E4-3D6F3A460D8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 name="Shape 15"/>
        <p:cNvGrpSpPr/>
        <p:nvPr/>
      </p:nvGrpSpPr>
      <p:grpSpPr>
        <a:xfrm>
          <a:off x="0" y="0"/>
          <a:ext cx="0" cy="0"/>
          <a:chOff x="0" y="0"/>
          <a:chExt cx="0" cy="0"/>
        </a:xfrm>
      </p:grpSpPr>
      <p:sp>
        <p:nvSpPr>
          <p:cNvPr id="16" name="Google Shape;16;p3"/>
          <p:cNvSpPr txBox="1"/>
          <p:nvPr/>
        </p:nvSpPr>
        <p:spPr>
          <a:xfrm>
            <a:off x="0" y="1965960"/>
            <a:ext cx="12191695"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C14E"/>
              </a:buClr>
              <a:buSzPts val="1300"/>
              <a:buFont typeface="Calibri"/>
              <a:buNone/>
            </a:pPr>
            <a:r>
              <a:rPr b="1" i="0" lang="en-US" sz="1300" u="none" cap="none" strike="noStrike">
                <a:solidFill>
                  <a:srgbClr val="F2C14E"/>
                </a:solidFill>
                <a:latin typeface="Calibri"/>
                <a:ea typeface="Calibri"/>
                <a:cs typeface="Calibri"/>
                <a:sym typeface="Calibri"/>
              </a:rPr>
              <a:t>TP INTEGRADOR — DISEÑO Y MAQUETADO WEB</a:t>
            </a:r>
            <a:endParaRPr b="0" i="0" sz="1300" u="none" cap="none" strike="noStrike">
              <a:solidFill>
                <a:schemeClr val="dk1"/>
              </a:solidFill>
              <a:latin typeface="Calibri"/>
              <a:ea typeface="Calibri"/>
              <a:cs typeface="Calibri"/>
              <a:sym typeface="Calibri"/>
            </a:endParaRPr>
          </a:p>
        </p:txBody>
      </p:sp>
      <p:sp>
        <p:nvSpPr>
          <p:cNvPr id="17" name="Google Shape;17;p3"/>
          <p:cNvSpPr txBox="1"/>
          <p:nvPr/>
        </p:nvSpPr>
        <p:spPr>
          <a:xfrm>
            <a:off x="731520" y="2377440"/>
            <a:ext cx="10728655"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Benchmarking: Indeed vs. Bumeran</a:t>
            </a:r>
            <a:endParaRPr b="0" i="0" sz="4000" u="none" cap="none" strike="noStrike">
              <a:solidFill>
                <a:schemeClr val="dk1"/>
              </a:solidFill>
              <a:latin typeface="Calibri"/>
              <a:ea typeface="Calibri"/>
              <a:cs typeface="Calibri"/>
              <a:sym typeface="Calibri"/>
            </a:endParaRPr>
          </a:p>
        </p:txBody>
      </p:sp>
      <p:sp>
        <p:nvSpPr>
          <p:cNvPr id="18" name="Google Shape;18;p3"/>
          <p:cNvSpPr txBox="1"/>
          <p:nvPr/>
        </p:nvSpPr>
        <p:spPr>
          <a:xfrm>
            <a:off x="731520" y="3429000"/>
            <a:ext cx="10728655"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3CBE6"/>
              </a:buClr>
              <a:buSzPts val="1700"/>
              <a:buFont typeface="Calibri"/>
              <a:buNone/>
            </a:pPr>
            <a:r>
              <a:rPr b="0" i="0" lang="en-US" sz="1700" u="none" cap="none" strike="noStrike">
                <a:solidFill>
                  <a:srgbClr val="C3CBE6"/>
                </a:solidFill>
                <a:latin typeface="Calibri"/>
                <a:ea typeface="Calibri"/>
                <a:cs typeface="Calibri"/>
                <a:sym typeface="Calibri"/>
              </a:rPr>
              <a:t>Plataformas de búsqueda de empleo — análisis comparativo de UX/UI</a:t>
            </a:r>
            <a:endParaRPr b="0" i="0" sz="1700" u="none" cap="none" strike="noStrike">
              <a:solidFill>
                <a:schemeClr val="dk1"/>
              </a:solidFill>
              <a:latin typeface="Calibri"/>
              <a:ea typeface="Calibri"/>
              <a:cs typeface="Calibri"/>
              <a:sym typeface="Calibri"/>
            </a:endParaRPr>
          </a:p>
        </p:txBody>
      </p:sp>
      <p:sp>
        <p:nvSpPr>
          <p:cNvPr id="19" name="Google Shape;19;p3"/>
          <p:cNvSpPr/>
          <p:nvPr/>
        </p:nvSpPr>
        <p:spPr>
          <a:xfrm>
            <a:off x="4404208" y="4069080"/>
            <a:ext cx="1554480" cy="384048"/>
          </a:xfrm>
          <a:prstGeom prst="roundRect">
            <a:avLst>
              <a:gd fmla="val 50000" name="adj"/>
            </a:avLst>
          </a:prstGeom>
          <a:solidFill>
            <a:srgbClr val="4756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txBox="1"/>
          <p:nvPr/>
        </p:nvSpPr>
        <p:spPr>
          <a:xfrm>
            <a:off x="4404208" y="4069080"/>
            <a:ext cx="1554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INDEED</a:t>
            </a:r>
            <a:endParaRPr b="0" i="0" sz="1300" u="none" cap="none" strike="noStrike">
              <a:solidFill>
                <a:schemeClr val="dk1"/>
              </a:solidFill>
              <a:latin typeface="Calibri"/>
              <a:ea typeface="Calibri"/>
              <a:cs typeface="Calibri"/>
              <a:sym typeface="Calibri"/>
            </a:endParaRPr>
          </a:p>
        </p:txBody>
      </p:sp>
      <p:sp>
        <p:nvSpPr>
          <p:cNvPr id="21" name="Google Shape;21;p3"/>
          <p:cNvSpPr/>
          <p:nvPr/>
        </p:nvSpPr>
        <p:spPr>
          <a:xfrm>
            <a:off x="6233008" y="4069080"/>
            <a:ext cx="1554480" cy="384048"/>
          </a:xfrm>
          <a:prstGeom prst="roundRect">
            <a:avLst>
              <a:gd fmla="val 50000"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txBox="1"/>
          <p:nvPr/>
        </p:nvSpPr>
        <p:spPr>
          <a:xfrm>
            <a:off x="6233008" y="4069080"/>
            <a:ext cx="1554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BUMERAN</a:t>
            </a:r>
            <a:endParaRPr b="0" i="0" sz="1300" u="none" cap="none" strike="noStrike">
              <a:solidFill>
                <a:schemeClr val="dk1"/>
              </a:solidFill>
              <a:latin typeface="Calibri"/>
              <a:ea typeface="Calibri"/>
              <a:cs typeface="Calibri"/>
              <a:sym typeface="Calibri"/>
            </a:endParaRPr>
          </a:p>
        </p:txBody>
      </p:sp>
      <p:sp>
        <p:nvSpPr>
          <p:cNvPr id="23" name="Google Shape;23;p3"/>
          <p:cNvSpPr txBox="1"/>
          <p:nvPr/>
        </p:nvSpPr>
        <p:spPr>
          <a:xfrm>
            <a:off x="0" y="6172200"/>
            <a:ext cx="12191695"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3CBE6"/>
              </a:buClr>
              <a:buSzPts val="1250"/>
              <a:buFont typeface="Calibri"/>
              <a:buNone/>
            </a:pPr>
            <a:r>
              <a:rPr b="0" i="0" lang="en-US" sz="1250" u="none" cap="none" strike="noStrike">
                <a:solidFill>
                  <a:srgbClr val="C3CBE6"/>
                </a:solidFill>
                <a:latin typeface="Calibri"/>
                <a:ea typeface="Calibri"/>
                <a:cs typeface="Calibri"/>
                <a:sym typeface="Calibri"/>
              </a:rPr>
              <a:t>Etapa 1  ·  Entrega 10/09  ·  Lazzatti, Guerra y Regidor</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 name="Shape 28"/>
        <p:cNvGrpSpPr/>
        <p:nvPr/>
      </p:nvGrpSpPr>
      <p:grpSpPr>
        <a:xfrm>
          <a:off x="0" y="0"/>
          <a:ext cx="0" cy="0"/>
          <a:chOff x="0" y="0"/>
          <a:chExt cx="0" cy="0"/>
        </a:xfrm>
      </p:grpSpPr>
      <p:sp>
        <p:nvSpPr>
          <p:cNvPr id="29" name="Google Shape;29;p4"/>
          <p:cNvSpPr txBox="1"/>
          <p:nvPr/>
        </p:nvSpPr>
        <p:spPr>
          <a:xfrm>
            <a:off x="457200" y="41148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CONTEXTO</a:t>
            </a:r>
            <a:endParaRPr b="0" i="0" sz="1200" u="none" cap="none" strike="noStrike">
              <a:solidFill>
                <a:schemeClr val="dk1"/>
              </a:solidFill>
              <a:latin typeface="Calibri"/>
              <a:ea typeface="Calibri"/>
              <a:cs typeface="Calibri"/>
              <a:sym typeface="Calibri"/>
            </a:endParaRPr>
          </a:p>
        </p:txBody>
      </p:sp>
      <p:sp>
        <p:nvSpPr>
          <p:cNvPr id="30" name="Google Shape;30;p4"/>
          <p:cNvSpPr txBox="1"/>
          <p:nvPr/>
        </p:nvSpPr>
        <p:spPr>
          <a:xfrm>
            <a:off x="457200" y="640080"/>
            <a:ext cx="11277295"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3C7E"/>
              </a:buClr>
              <a:buSzPts val="2600"/>
              <a:buFont typeface="Cambria"/>
              <a:buNone/>
            </a:pPr>
            <a:r>
              <a:rPr b="1" i="0" lang="en-US" sz="2600" u="none" cap="none" strike="noStrike">
                <a:solidFill>
                  <a:srgbClr val="2F3C7E"/>
                </a:solidFill>
                <a:latin typeface="Cambria"/>
                <a:ea typeface="Cambria"/>
                <a:cs typeface="Cambria"/>
                <a:sym typeface="Cambria"/>
              </a:rPr>
              <a:t>¿Por qué Indeed y Bumeran?</a:t>
            </a:r>
            <a:endParaRPr b="0" i="0" sz="2600" u="none" cap="none" strike="noStrike">
              <a:solidFill>
                <a:schemeClr val="dk1"/>
              </a:solidFill>
              <a:latin typeface="Calibri"/>
              <a:ea typeface="Calibri"/>
              <a:cs typeface="Calibri"/>
              <a:sym typeface="Calibri"/>
            </a:endParaRPr>
          </a:p>
        </p:txBody>
      </p:sp>
      <p:sp>
        <p:nvSpPr>
          <p:cNvPr id="31" name="Google Shape;31;p4"/>
          <p:cNvSpPr txBox="1"/>
          <p:nvPr/>
        </p:nvSpPr>
        <p:spPr>
          <a:xfrm>
            <a:off x="457200" y="1371600"/>
            <a:ext cx="11277295"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3262B"/>
              </a:buClr>
              <a:buSzPts val="1500"/>
              <a:buFont typeface="Calibri"/>
              <a:buNone/>
            </a:pPr>
            <a:r>
              <a:rPr b="0" i="0" lang="en-US" sz="1500" u="none" cap="none" strike="noStrike">
                <a:solidFill>
                  <a:srgbClr val="23262B"/>
                </a:solidFill>
                <a:latin typeface="Calibri"/>
                <a:ea typeface="Calibri"/>
                <a:cs typeface="Calibri"/>
                <a:sym typeface="Calibri"/>
              </a:rPr>
              <a:t>Para este benchmarking elegimos Indeed y Bumeran: dos plataformas de búsqueda de empleo con gran reputación en la región, pero con enfoques de producto distintos. Evaluamos ambas contra las siete dimensiones de UX que pide la consigna de Etapa 1.</a:t>
            </a:r>
            <a:endParaRPr b="0" i="0" sz="1500" u="none" cap="none" strike="noStrike">
              <a:solidFill>
                <a:schemeClr val="dk1"/>
              </a:solidFill>
              <a:latin typeface="Calibri"/>
              <a:ea typeface="Calibri"/>
              <a:cs typeface="Calibri"/>
              <a:sym typeface="Calibri"/>
            </a:endParaRPr>
          </a:p>
        </p:txBody>
      </p:sp>
      <p:sp>
        <p:nvSpPr>
          <p:cNvPr id="32" name="Google Shape;32;p4"/>
          <p:cNvSpPr/>
          <p:nvPr/>
        </p:nvSpPr>
        <p:spPr>
          <a:xfrm>
            <a:off x="979257" y="2697480"/>
            <a:ext cx="566928" cy="56692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txBox="1"/>
          <p:nvPr/>
        </p:nvSpPr>
        <p:spPr>
          <a:xfrm>
            <a:off x="979257" y="269748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2.1</a:t>
            </a:r>
            <a:endParaRPr b="0" i="0" sz="1300" u="none" cap="none" strike="noStrike">
              <a:solidFill>
                <a:schemeClr val="dk1"/>
              </a:solidFill>
              <a:latin typeface="Calibri"/>
              <a:ea typeface="Calibri"/>
              <a:cs typeface="Calibri"/>
              <a:sym typeface="Calibri"/>
            </a:endParaRPr>
          </a:p>
        </p:txBody>
      </p:sp>
      <p:sp>
        <p:nvSpPr>
          <p:cNvPr id="34" name="Google Shape;34;p4"/>
          <p:cNvSpPr txBox="1"/>
          <p:nvPr/>
        </p:nvSpPr>
        <p:spPr>
          <a:xfrm>
            <a:off x="457200" y="3401568"/>
            <a:ext cx="1611042"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3262B"/>
              </a:buClr>
              <a:buSzPts val="1150"/>
              <a:buFont typeface="Calibri"/>
              <a:buNone/>
            </a:pPr>
            <a:r>
              <a:rPr b="0" i="0" lang="en-US" sz="1150" u="none" cap="none" strike="noStrike">
                <a:solidFill>
                  <a:srgbClr val="23262B"/>
                </a:solidFill>
                <a:latin typeface="Calibri"/>
                <a:ea typeface="Calibri"/>
                <a:cs typeface="Calibri"/>
                <a:sym typeface="Calibri"/>
              </a:rPr>
              <a:t>Arquitectura</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3262B"/>
              </a:buClr>
              <a:buSzPts val="1150"/>
              <a:buFont typeface="Calibri"/>
              <a:buNone/>
            </a:pPr>
            <a:r>
              <a:rPr b="0" i="0" lang="en-US" sz="1150" u="none" cap="none" strike="noStrike">
                <a:solidFill>
                  <a:srgbClr val="23262B"/>
                </a:solidFill>
                <a:latin typeface="Calibri"/>
                <a:ea typeface="Calibri"/>
                <a:cs typeface="Calibri"/>
                <a:sym typeface="Calibri"/>
              </a:rPr>
              <a:t>y navegación</a:t>
            </a:r>
            <a:endParaRPr b="0" i="0" sz="1150" u="none" cap="none" strike="noStrike">
              <a:solidFill>
                <a:schemeClr val="dk1"/>
              </a:solidFill>
              <a:latin typeface="Calibri"/>
              <a:ea typeface="Calibri"/>
              <a:cs typeface="Calibri"/>
              <a:sym typeface="Calibri"/>
            </a:endParaRPr>
          </a:p>
        </p:txBody>
      </p:sp>
      <p:sp>
        <p:nvSpPr>
          <p:cNvPr id="35" name="Google Shape;35;p4"/>
          <p:cNvSpPr/>
          <p:nvPr/>
        </p:nvSpPr>
        <p:spPr>
          <a:xfrm>
            <a:off x="2590299" y="2697480"/>
            <a:ext cx="566928" cy="56692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txBox="1"/>
          <p:nvPr/>
        </p:nvSpPr>
        <p:spPr>
          <a:xfrm>
            <a:off x="2590299" y="269748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2.2</a:t>
            </a:r>
            <a:endParaRPr b="0" i="0" sz="1300" u="none" cap="none" strike="noStrike">
              <a:solidFill>
                <a:schemeClr val="dk1"/>
              </a:solidFill>
              <a:latin typeface="Calibri"/>
              <a:ea typeface="Calibri"/>
              <a:cs typeface="Calibri"/>
              <a:sym typeface="Calibri"/>
            </a:endParaRPr>
          </a:p>
        </p:txBody>
      </p:sp>
      <p:sp>
        <p:nvSpPr>
          <p:cNvPr id="37" name="Google Shape;37;p4"/>
          <p:cNvSpPr txBox="1"/>
          <p:nvPr/>
        </p:nvSpPr>
        <p:spPr>
          <a:xfrm>
            <a:off x="2068242" y="3401568"/>
            <a:ext cx="1611042"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3262B"/>
              </a:buClr>
              <a:buSzPts val="1150"/>
              <a:buFont typeface="Calibri"/>
              <a:buNone/>
            </a:pPr>
            <a:r>
              <a:rPr b="0" i="0" lang="en-US" sz="1150" u="none" cap="none" strike="noStrike">
                <a:solidFill>
                  <a:srgbClr val="23262B"/>
                </a:solidFill>
                <a:latin typeface="Calibri"/>
                <a:ea typeface="Calibri"/>
                <a:cs typeface="Calibri"/>
                <a:sym typeface="Calibri"/>
              </a:rPr>
              <a:t>Buscador</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3262B"/>
              </a:buClr>
              <a:buSzPts val="1150"/>
              <a:buFont typeface="Calibri"/>
              <a:buNone/>
            </a:pPr>
            <a:r>
              <a:rPr b="0" i="0" lang="en-US" sz="1150" u="none" cap="none" strike="noStrike">
                <a:solidFill>
                  <a:srgbClr val="23262B"/>
                </a:solidFill>
                <a:latin typeface="Calibri"/>
                <a:ea typeface="Calibri"/>
                <a:cs typeface="Calibri"/>
                <a:sym typeface="Calibri"/>
              </a:rPr>
              <a:t>y filtros</a:t>
            </a:r>
            <a:endParaRPr b="0" i="0" sz="1150" u="none" cap="none" strike="noStrike">
              <a:solidFill>
                <a:schemeClr val="dk1"/>
              </a:solidFill>
              <a:latin typeface="Calibri"/>
              <a:ea typeface="Calibri"/>
              <a:cs typeface="Calibri"/>
              <a:sym typeface="Calibri"/>
            </a:endParaRPr>
          </a:p>
        </p:txBody>
      </p:sp>
      <p:sp>
        <p:nvSpPr>
          <p:cNvPr id="38" name="Google Shape;38;p4"/>
          <p:cNvSpPr/>
          <p:nvPr/>
        </p:nvSpPr>
        <p:spPr>
          <a:xfrm>
            <a:off x="4201341" y="2697480"/>
            <a:ext cx="566928" cy="56692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txBox="1"/>
          <p:nvPr/>
        </p:nvSpPr>
        <p:spPr>
          <a:xfrm>
            <a:off x="4201341" y="269748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2.3</a:t>
            </a:r>
            <a:endParaRPr b="0" i="0" sz="1300" u="none" cap="none" strike="noStrike">
              <a:solidFill>
                <a:schemeClr val="dk1"/>
              </a:solidFill>
              <a:latin typeface="Calibri"/>
              <a:ea typeface="Calibri"/>
              <a:cs typeface="Calibri"/>
              <a:sym typeface="Calibri"/>
            </a:endParaRPr>
          </a:p>
        </p:txBody>
      </p:sp>
      <p:sp>
        <p:nvSpPr>
          <p:cNvPr id="40" name="Google Shape;40;p4"/>
          <p:cNvSpPr txBox="1"/>
          <p:nvPr/>
        </p:nvSpPr>
        <p:spPr>
          <a:xfrm>
            <a:off x="3679284" y="3401568"/>
            <a:ext cx="1611042"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3262B"/>
              </a:buClr>
              <a:buSzPts val="1150"/>
              <a:buFont typeface="Calibri"/>
              <a:buNone/>
            </a:pPr>
            <a:r>
              <a:rPr b="0" i="0" lang="en-US" sz="1150" u="none" cap="none" strike="noStrike">
                <a:solidFill>
                  <a:srgbClr val="23262B"/>
                </a:solidFill>
                <a:latin typeface="Calibri"/>
                <a:ea typeface="Calibri"/>
                <a:cs typeface="Calibri"/>
                <a:sym typeface="Calibri"/>
              </a:rPr>
              <a:t>Presentación</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3262B"/>
              </a:buClr>
              <a:buSzPts val="1150"/>
              <a:buFont typeface="Calibri"/>
              <a:buNone/>
            </a:pPr>
            <a:r>
              <a:rPr b="0" i="0" lang="en-US" sz="1150" u="none" cap="none" strike="noStrike">
                <a:solidFill>
                  <a:srgbClr val="23262B"/>
                </a:solidFill>
                <a:latin typeface="Calibri"/>
                <a:ea typeface="Calibri"/>
                <a:cs typeface="Calibri"/>
                <a:sym typeface="Calibri"/>
              </a:rPr>
              <a:t>de ofertas</a:t>
            </a:r>
            <a:endParaRPr b="0" i="0" sz="1150" u="none" cap="none" strike="noStrike">
              <a:solidFill>
                <a:schemeClr val="dk1"/>
              </a:solidFill>
              <a:latin typeface="Calibri"/>
              <a:ea typeface="Calibri"/>
              <a:cs typeface="Calibri"/>
              <a:sym typeface="Calibri"/>
            </a:endParaRPr>
          </a:p>
        </p:txBody>
      </p:sp>
      <p:sp>
        <p:nvSpPr>
          <p:cNvPr id="41" name="Google Shape;41;p4"/>
          <p:cNvSpPr/>
          <p:nvPr/>
        </p:nvSpPr>
        <p:spPr>
          <a:xfrm>
            <a:off x="5812384" y="2697480"/>
            <a:ext cx="566928" cy="56692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txBox="1"/>
          <p:nvPr/>
        </p:nvSpPr>
        <p:spPr>
          <a:xfrm>
            <a:off x="5812384" y="269748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2.4</a:t>
            </a:r>
            <a:endParaRPr b="0" i="0" sz="1300" u="none" cap="none" strike="noStrike">
              <a:solidFill>
                <a:schemeClr val="dk1"/>
              </a:solidFill>
              <a:latin typeface="Calibri"/>
              <a:ea typeface="Calibri"/>
              <a:cs typeface="Calibri"/>
              <a:sym typeface="Calibri"/>
            </a:endParaRPr>
          </a:p>
        </p:txBody>
      </p:sp>
      <p:sp>
        <p:nvSpPr>
          <p:cNvPr id="43" name="Google Shape;43;p4"/>
          <p:cNvSpPr txBox="1"/>
          <p:nvPr/>
        </p:nvSpPr>
        <p:spPr>
          <a:xfrm>
            <a:off x="5290327" y="3401568"/>
            <a:ext cx="1611042"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3262B"/>
              </a:buClr>
              <a:buSzPts val="1150"/>
              <a:buFont typeface="Calibri"/>
              <a:buNone/>
            </a:pPr>
            <a:r>
              <a:rPr b="0" i="0" lang="en-US" sz="1150" u="none" cap="none" strike="noStrike">
                <a:solidFill>
                  <a:srgbClr val="23262B"/>
                </a:solidFill>
                <a:latin typeface="Calibri"/>
                <a:ea typeface="Calibri"/>
                <a:cs typeface="Calibri"/>
                <a:sym typeface="Calibri"/>
              </a:rPr>
              <a:t>Proceso de</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3262B"/>
              </a:buClr>
              <a:buSzPts val="1150"/>
              <a:buFont typeface="Calibri"/>
              <a:buNone/>
            </a:pPr>
            <a:r>
              <a:rPr b="0" i="0" lang="en-US" sz="1150" u="none" cap="none" strike="noStrike">
                <a:solidFill>
                  <a:srgbClr val="23262B"/>
                </a:solidFill>
                <a:latin typeface="Calibri"/>
                <a:ea typeface="Calibri"/>
                <a:cs typeface="Calibri"/>
                <a:sym typeface="Calibri"/>
              </a:rPr>
              <a:t>postulación</a:t>
            </a:r>
            <a:endParaRPr b="0" i="0" sz="1150" u="none" cap="none" strike="noStrike">
              <a:solidFill>
                <a:schemeClr val="dk1"/>
              </a:solidFill>
              <a:latin typeface="Calibri"/>
              <a:ea typeface="Calibri"/>
              <a:cs typeface="Calibri"/>
              <a:sym typeface="Calibri"/>
            </a:endParaRPr>
          </a:p>
        </p:txBody>
      </p:sp>
      <p:sp>
        <p:nvSpPr>
          <p:cNvPr id="44" name="Google Shape;44;p4"/>
          <p:cNvSpPr/>
          <p:nvPr/>
        </p:nvSpPr>
        <p:spPr>
          <a:xfrm>
            <a:off x="7423426" y="2697480"/>
            <a:ext cx="566928" cy="56692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txBox="1"/>
          <p:nvPr/>
        </p:nvSpPr>
        <p:spPr>
          <a:xfrm>
            <a:off x="7423426" y="269748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2.5</a:t>
            </a:r>
            <a:endParaRPr b="0" i="0" sz="1300" u="none" cap="none" strike="noStrike">
              <a:solidFill>
                <a:schemeClr val="dk1"/>
              </a:solidFill>
              <a:latin typeface="Calibri"/>
              <a:ea typeface="Calibri"/>
              <a:cs typeface="Calibri"/>
              <a:sym typeface="Calibri"/>
            </a:endParaRPr>
          </a:p>
        </p:txBody>
      </p:sp>
      <p:sp>
        <p:nvSpPr>
          <p:cNvPr id="46" name="Google Shape;46;p4"/>
          <p:cNvSpPr txBox="1"/>
          <p:nvPr/>
        </p:nvSpPr>
        <p:spPr>
          <a:xfrm>
            <a:off x="6901369" y="3401568"/>
            <a:ext cx="1611042"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3262B"/>
              </a:buClr>
              <a:buSzPts val="1150"/>
              <a:buFont typeface="Calibri"/>
              <a:buNone/>
            </a:pPr>
            <a:r>
              <a:rPr b="0" i="0" lang="en-US" sz="1150" u="none" cap="none" strike="noStrike">
                <a:solidFill>
                  <a:srgbClr val="23262B"/>
                </a:solidFill>
                <a:latin typeface="Calibri"/>
                <a:ea typeface="Calibri"/>
                <a:cs typeface="Calibri"/>
                <a:sym typeface="Calibri"/>
              </a:rPr>
              <a:t>Color y</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3262B"/>
              </a:buClr>
              <a:buSzPts val="1150"/>
              <a:buFont typeface="Calibri"/>
              <a:buNone/>
            </a:pPr>
            <a:r>
              <a:rPr b="0" i="0" lang="en-US" sz="1150" u="none" cap="none" strike="noStrike">
                <a:solidFill>
                  <a:srgbClr val="23262B"/>
                </a:solidFill>
                <a:latin typeface="Calibri"/>
                <a:ea typeface="Calibri"/>
                <a:cs typeface="Calibri"/>
                <a:sym typeface="Calibri"/>
              </a:rPr>
              <a:t>tipografía</a:t>
            </a:r>
            <a:endParaRPr b="0" i="0" sz="1150" u="none" cap="none" strike="noStrike">
              <a:solidFill>
                <a:schemeClr val="dk1"/>
              </a:solidFill>
              <a:latin typeface="Calibri"/>
              <a:ea typeface="Calibri"/>
              <a:cs typeface="Calibri"/>
              <a:sym typeface="Calibri"/>
            </a:endParaRPr>
          </a:p>
        </p:txBody>
      </p:sp>
      <p:sp>
        <p:nvSpPr>
          <p:cNvPr id="47" name="Google Shape;47;p4"/>
          <p:cNvSpPr/>
          <p:nvPr/>
        </p:nvSpPr>
        <p:spPr>
          <a:xfrm>
            <a:off x="9034468" y="2697480"/>
            <a:ext cx="566928" cy="56692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txBox="1"/>
          <p:nvPr/>
        </p:nvSpPr>
        <p:spPr>
          <a:xfrm>
            <a:off x="9034468" y="269748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2.6</a:t>
            </a:r>
            <a:endParaRPr b="0" i="0" sz="1300" u="none" cap="none" strike="noStrike">
              <a:solidFill>
                <a:schemeClr val="dk1"/>
              </a:solidFill>
              <a:latin typeface="Calibri"/>
              <a:ea typeface="Calibri"/>
              <a:cs typeface="Calibri"/>
              <a:sym typeface="Calibri"/>
            </a:endParaRPr>
          </a:p>
        </p:txBody>
      </p:sp>
      <p:sp>
        <p:nvSpPr>
          <p:cNvPr id="49" name="Google Shape;49;p4"/>
          <p:cNvSpPr txBox="1"/>
          <p:nvPr/>
        </p:nvSpPr>
        <p:spPr>
          <a:xfrm>
            <a:off x="8512411" y="3401568"/>
            <a:ext cx="1611042"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3262B"/>
              </a:buClr>
              <a:buSzPts val="1150"/>
              <a:buFont typeface="Calibri"/>
              <a:buNone/>
            </a:pPr>
            <a:r>
              <a:rPr b="0" i="0" lang="en-US" sz="1150" u="none" cap="none" strike="noStrike">
                <a:solidFill>
                  <a:srgbClr val="23262B"/>
                </a:solidFill>
                <a:latin typeface="Calibri"/>
                <a:ea typeface="Calibri"/>
                <a:cs typeface="Calibri"/>
                <a:sym typeface="Calibri"/>
              </a:rPr>
              <a:t>Heurísticas</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3262B"/>
              </a:buClr>
              <a:buSzPts val="1150"/>
              <a:buFont typeface="Calibri"/>
              <a:buNone/>
            </a:pPr>
            <a:r>
              <a:rPr b="0" i="0" lang="en-US" sz="1150" u="none" cap="none" strike="noStrike">
                <a:solidFill>
                  <a:srgbClr val="23262B"/>
                </a:solidFill>
                <a:latin typeface="Calibri"/>
                <a:ea typeface="Calibri"/>
                <a:cs typeface="Calibri"/>
                <a:sym typeface="Calibri"/>
              </a:rPr>
              <a:t>aplicadas</a:t>
            </a:r>
            <a:endParaRPr b="0" i="0" sz="1150" u="none" cap="none" strike="noStrike">
              <a:solidFill>
                <a:schemeClr val="dk1"/>
              </a:solidFill>
              <a:latin typeface="Calibri"/>
              <a:ea typeface="Calibri"/>
              <a:cs typeface="Calibri"/>
              <a:sym typeface="Calibri"/>
            </a:endParaRPr>
          </a:p>
        </p:txBody>
      </p:sp>
      <p:sp>
        <p:nvSpPr>
          <p:cNvPr id="50" name="Google Shape;50;p4"/>
          <p:cNvSpPr/>
          <p:nvPr/>
        </p:nvSpPr>
        <p:spPr>
          <a:xfrm>
            <a:off x="10645510" y="2697480"/>
            <a:ext cx="566928" cy="56692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txBox="1"/>
          <p:nvPr/>
        </p:nvSpPr>
        <p:spPr>
          <a:xfrm>
            <a:off x="10645510" y="269748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2.7</a:t>
            </a:r>
            <a:endParaRPr b="0" i="0" sz="1300" u="none" cap="none" strike="noStrike">
              <a:solidFill>
                <a:schemeClr val="dk1"/>
              </a:solidFill>
              <a:latin typeface="Calibri"/>
              <a:ea typeface="Calibri"/>
              <a:cs typeface="Calibri"/>
              <a:sym typeface="Calibri"/>
            </a:endParaRPr>
          </a:p>
        </p:txBody>
      </p:sp>
      <p:sp>
        <p:nvSpPr>
          <p:cNvPr id="52" name="Google Shape;52;p4"/>
          <p:cNvSpPr txBox="1"/>
          <p:nvPr/>
        </p:nvSpPr>
        <p:spPr>
          <a:xfrm>
            <a:off x="10123453" y="3401568"/>
            <a:ext cx="1611042" cy="64008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3262B"/>
              </a:buClr>
              <a:buSzPts val="1150"/>
              <a:buFont typeface="Calibri"/>
              <a:buNone/>
            </a:pPr>
            <a:r>
              <a:rPr b="0" i="0" lang="en-US" sz="1150" u="none" cap="none" strike="noStrike">
                <a:solidFill>
                  <a:srgbClr val="23262B"/>
                </a:solidFill>
                <a:latin typeface="Calibri"/>
                <a:ea typeface="Calibri"/>
                <a:cs typeface="Calibri"/>
                <a:sym typeface="Calibri"/>
              </a:rPr>
              <a:t>Patrones de</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3262B"/>
              </a:buClr>
              <a:buSzPts val="1150"/>
              <a:buFont typeface="Calibri"/>
              <a:buNone/>
            </a:pPr>
            <a:r>
              <a:rPr b="0" i="0" lang="en-US" sz="1150" u="none" cap="none" strike="noStrike">
                <a:solidFill>
                  <a:srgbClr val="23262B"/>
                </a:solidFill>
                <a:latin typeface="Calibri"/>
                <a:ea typeface="Calibri"/>
                <a:cs typeface="Calibri"/>
                <a:sym typeface="Calibri"/>
              </a:rPr>
              <a:t>navegación</a:t>
            </a:r>
            <a:endParaRPr b="0" i="0" sz="1150" u="none" cap="none" strike="noStrike">
              <a:solidFill>
                <a:schemeClr val="dk1"/>
              </a:solidFill>
              <a:latin typeface="Calibri"/>
              <a:ea typeface="Calibri"/>
              <a:cs typeface="Calibri"/>
              <a:sym typeface="Calibri"/>
            </a:endParaRPr>
          </a:p>
        </p:txBody>
      </p:sp>
      <p:sp>
        <p:nvSpPr>
          <p:cNvPr id="53" name="Google Shape;53;p4"/>
          <p:cNvSpPr/>
          <p:nvPr/>
        </p:nvSpPr>
        <p:spPr>
          <a:xfrm>
            <a:off x="457200" y="5029200"/>
            <a:ext cx="11277295" cy="914400"/>
          </a:xfrm>
          <a:prstGeom prst="roundRect">
            <a:avLst>
              <a:gd fmla="val 12000" name="adj"/>
            </a:avLst>
          </a:prstGeom>
          <a:solidFill>
            <a:srgbClr val="F5F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txBox="1"/>
          <p:nvPr/>
        </p:nvSpPr>
        <p:spPr>
          <a:xfrm>
            <a:off x="749808" y="5029200"/>
            <a:ext cx="10692079"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Metodología:  </a:t>
            </a:r>
            <a:r>
              <a:rPr b="0" i="0" lang="en-US" sz="1300" u="none" cap="none" strike="noStrike">
                <a:solidFill>
                  <a:srgbClr val="23262B"/>
                </a:solidFill>
                <a:latin typeface="Calibri"/>
                <a:ea typeface="Calibri"/>
                <a:cs typeface="Calibri"/>
                <a:sym typeface="Calibri"/>
              </a:rPr>
              <a:t>antes de analizar las plataformas, generamos con IA hipótesis sobre los problemas de un joven que busca su primera experiencia laboral. Esas hipótesis se retoman al final de esta presentación.</a:t>
            </a:r>
            <a:endParaRPr b="0" i="0" sz="1300" u="none" cap="none" strike="noStrike">
              <a:solidFill>
                <a:schemeClr val="dk1"/>
              </a:solidFill>
              <a:latin typeface="Calibri"/>
              <a:ea typeface="Calibri"/>
              <a:cs typeface="Calibri"/>
              <a:sym typeface="Calibri"/>
            </a:endParaRPr>
          </a:p>
        </p:txBody>
      </p:sp>
      <p:sp>
        <p:nvSpPr>
          <p:cNvPr id="55" name="Google Shape;55;p4"/>
          <p:cNvSpPr txBox="1"/>
          <p:nvPr/>
        </p:nvSpPr>
        <p:spPr>
          <a:xfrm>
            <a:off x="457200" y="6510528"/>
            <a:ext cx="1127729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TP Integrador — Diseño y Maquetado Web  |  Etapa 1: Benchmarking  |  Lazzatti, Guerra y Regidor</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 name="Shape 60"/>
        <p:cNvGrpSpPr/>
        <p:nvPr/>
      </p:nvGrpSpPr>
      <p:grpSpPr>
        <a:xfrm>
          <a:off x="0" y="0"/>
          <a:ext cx="0" cy="0"/>
          <a:chOff x="0" y="0"/>
          <a:chExt cx="0" cy="0"/>
        </a:xfrm>
      </p:grpSpPr>
      <p:sp>
        <p:nvSpPr>
          <p:cNvPr id="61" name="Google Shape;61;p5"/>
          <p:cNvSpPr/>
          <p:nvPr/>
        </p:nvSpPr>
        <p:spPr>
          <a:xfrm>
            <a:off x="457200" y="411480"/>
            <a:ext cx="658368" cy="65836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txBox="1"/>
          <p:nvPr/>
        </p:nvSpPr>
        <p:spPr>
          <a:xfrm>
            <a:off x="45720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2.1</a:t>
            </a:r>
            <a:endParaRPr b="0" i="0" sz="1500" u="none" cap="none" strike="noStrike">
              <a:solidFill>
                <a:schemeClr val="dk1"/>
              </a:solidFill>
              <a:latin typeface="Calibri"/>
              <a:ea typeface="Calibri"/>
              <a:cs typeface="Calibri"/>
              <a:sym typeface="Calibri"/>
            </a:endParaRPr>
          </a:p>
        </p:txBody>
      </p:sp>
      <p:sp>
        <p:nvSpPr>
          <p:cNvPr id="63" name="Google Shape;63;p5"/>
          <p:cNvSpPr txBox="1"/>
          <p:nvPr/>
        </p:nvSpPr>
        <p:spPr>
          <a:xfrm>
            <a:off x="1344168" y="384048"/>
            <a:ext cx="10390327" cy="2743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CRITERIO 2.1</a:t>
            </a:r>
            <a:endParaRPr b="0" i="0" sz="1200" u="none" cap="none" strike="noStrike">
              <a:solidFill>
                <a:schemeClr val="dk1"/>
              </a:solidFill>
              <a:latin typeface="Calibri"/>
              <a:ea typeface="Calibri"/>
              <a:cs typeface="Calibri"/>
              <a:sym typeface="Calibri"/>
            </a:endParaRPr>
          </a:p>
        </p:txBody>
      </p:sp>
      <p:sp>
        <p:nvSpPr>
          <p:cNvPr id="64" name="Google Shape;64;p5"/>
          <p:cNvSpPr txBox="1"/>
          <p:nvPr/>
        </p:nvSpPr>
        <p:spPr>
          <a:xfrm>
            <a:off x="1344168" y="621792"/>
            <a:ext cx="10390327"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F3C7E"/>
              </a:buClr>
              <a:buSzPts val="2600"/>
              <a:buFont typeface="Cambria"/>
              <a:buNone/>
            </a:pPr>
            <a:r>
              <a:rPr b="1" i="0" lang="en-US" sz="2600" u="none" cap="none" strike="noStrike">
                <a:solidFill>
                  <a:srgbClr val="2F3C7E"/>
                </a:solidFill>
                <a:latin typeface="Cambria"/>
                <a:ea typeface="Cambria"/>
                <a:cs typeface="Cambria"/>
                <a:sym typeface="Cambria"/>
              </a:rPr>
              <a:t>Arquitectura de la información y navegación</a:t>
            </a:r>
            <a:endParaRPr b="0" i="0" sz="2600" u="none" cap="none" strike="noStrike">
              <a:solidFill>
                <a:schemeClr val="dk1"/>
              </a:solidFill>
              <a:latin typeface="Calibri"/>
              <a:ea typeface="Calibri"/>
              <a:cs typeface="Calibri"/>
              <a:sym typeface="Calibri"/>
            </a:endParaRPr>
          </a:p>
        </p:txBody>
      </p:sp>
      <p:sp>
        <p:nvSpPr>
          <p:cNvPr id="65" name="Google Shape;65;p5"/>
          <p:cNvSpPr/>
          <p:nvPr/>
        </p:nvSpPr>
        <p:spPr>
          <a:xfrm>
            <a:off x="457200" y="2181301"/>
            <a:ext cx="5478628" cy="2358238"/>
          </a:xfrm>
          <a:prstGeom prst="roundRect">
            <a:avLst>
              <a:gd fmla="val 5428" name="adj"/>
            </a:avLst>
          </a:prstGeom>
          <a:solidFill>
            <a:srgbClr val="EAEEF9"/>
          </a:solidFill>
          <a:ln>
            <a:noFill/>
          </a:ln>
          <a:effectLst>
            <a:outerShdw blurRad="101600" rotWithShape="0" algn="bl" dir="5400000" dist="38100">
              <a:srgbClr val="1A2140">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749808" y="2473909"/>
            <a:ext cx="1691640" cy="365760"/>
          </a:xfrm>
          <a:prstGeom prst="roundRect">
            <a:avLst>
              <a:gd fmla="val 50000"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txBox="1"/>
          <p:nvPr/>
        </p:nvSpPr>
        <p:spPr>
          <a:xfrm>
            <a:off x="749808" y="2473909"/>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INDEED</a:t>
            </a:r>
            <a:endParaRPr b="0" i="0" sz="1300" u="none" cap="none" strike="noStrike">
              <a:solidFill>
                <a:schemeClr val="dk1"/>
              </a:solidFill>
              <a:latin typeface="Calibri"/>
              <a:ea typeface="Calibri"/>
              <a:cs typeface="Calibri"/>
              <a:sym typeface="Calibri"/>
            </a:endParaRPr>
          </a:p>
        </p:txBody>
      </p:sp>
      <p:sp>
        <p:nvSpPr>
          <p:cNvPr id="68" name="Google Shape;68;p5"/>
          <p:cNvSpPr txBox="1"/>
          <p:nvPr/>
        </p:nvSpPr>
        <p:spPr>
          <a:xfrm>
            <a:off x="749808" y="3095701"/>
            <a:ext cx="4893412" cy="115123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Home minimalista: logo, filtros básicos y opciones de accesibilidad (idioma).</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Botón de registro visible, sin elementos que distraigan.</a:t>
            </a:r>
            <a:endParaRPr b="0" i="0" sz="1400" u="none" cap="none" strike="noStrike">
              <a:solidFill>
                <a:schemeClr val="dk1"/>
              </a:solidFill>
              <a:latin typeface="Calibri"/>
              <a:ea typeface="Calibri"/>
              <a:cs typeface="Calibri"/>
              <a:sym typeface="Calibri"/>
            </a:endParaRPr>
          </a:p>
        </p:txBody>
      </p:sp>
      <p:sp>
        <p:nvSpPr>
          <p:cNvPr id="69" name="Google Shape;69;p5"/>
          <p:cNvSpPr/>
          <p:nvPr/>
        </p:nvSpPr>
        <p:spPr>
          <a:xfrm>
            <a:off x="6255868" y="2181301"/>
            <a:ext cx="5478628" cy="2358238"/>
          </a:xfrm>
          <a:prstGeom prst="roundRect">
            <a:avLst>
              <a:gd fmla="val 5428" name="adj"/>
            </a:avLst>
          </a:prstGeom>
          <a:solidFill>
            <a:srgbClr val="FDEAEA"/>
          </a:solidFill>
          <a:ln>
            <a:noFill/>
          </a:ln>
          <a:effectLst>
            <a:outerShdw blurRad="101600" rotWithShape="0" algn="bl" dir="5400000" dist="38100">
              <a:srgbClr val="1A2140">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6548476" y="2473909"/>
            <a:ext cx="1691640" cy="365760"/>
          </a:xfrm>
          <a:prstGeom prst="roundRect">
            <a:avLst>
              <a:gd fmla="val 50000"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txBox="1"/>
          <p:nvPr/>
        </p:nvSpPr>
        <p:spPr>
          <a:xfrm>
            <a:off x="6548476" y="2473909"/>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BUMERAN</a:t>
            </a:r>
            <a:endParaRPr b="0" i="0" sz="1300" u="none" cap="none" strike="noStrike">
              <a:solidFill>
                <a:schemeClr val="dk1"/>
              </a:solidFill>
              <a:latin typeface="Calibri"/>
              <a:ea typeface="Calibri"/>
              <a:cs typeface="Calibri"/>
              <a:sym typeface="Calibri"/>
            </a:endParaRPr>
          </a:p>
        </p:txBody>
      </p:sp>
      <p:sp>
        <p:nvSpPr>
          <p:cNvPr id="72" name="Google Shape;72;p5"/>
          <p:cNvSpPr txBox="1"/>
          <p:nvPr/>
        </p:nvSpPr>
        <p:spPr>
          <a:xfrm>
            <a:off x="6548476" y="3095701"/>
            <a:ext cx="4893412" cy="115123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Home más cargado: filtros y botón de inicio de sesión.</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Exceso de información que no modifica la experiencia del usuario.</a:t>
            </a:r>
            <a:endParaRPr b="0" i="0" sz="1400" u="none" cap="none" strike="noStrike">
              <a:solidFill>
                <a:schemeClr val="dk1"/>
              </a:solidFill>
              <a:latin typeface="Calibri"/>
              <a:ea typeface="Calibri"/>
              <a:cs typeface="Calibri"/>
              <a:sym typeface="Calibri"/>
            </a:endParaRPr>
          </a:p>
        </p:txBody>
      </p:sp>
      <p:sp>
        <p:nvSpPr>
          <p:cNvPr id="73" name="Google Shape;73;p5"/>
          <p:cNvSpPr/>
          <p:nvPr/>
        </p:nvSpPr>
        <p:spPr>
          <a:xfrm>
            <a:off x="457200" y="4813859"/>
            <a:ext cx="11277295" cy="731520"/>
          </a:xfrm>
          <a:prstGeom prst="roundRect">
            <a:avLst>
              <a:gd fmla="val 15000" name="adj"/>
            </a:avLst>
          </a:prstGeom>
          <a:solidFill>
            <a:srgbClr val="F5F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txBox="1"/>
          <p:nvPr/>
        </p:nvSpPr>
        <p:spPr>
          <a:xfrm>
            <a:off x="749808" y="4813859"/>
            <a:ext cx="10692079"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3C7E"/>
              </a:buClr>
              <a:buSzPts val="1350"/>
              <a:buFont typeface="Calibri"/>
              <a:buNone/>
            </a:pPr>
            <a:r>
              <a:rPr b="1" i="0" lang="en-US" sz="1350" u="none" cap="none" strike="noStrike">
                <a:solidFill>
                  <a:srgbClr val="2F3C7E"/>
                </a:solidFill>
                <a:latin typeface="Calibri"/>
                <a:ea typeface="Calibri"/>
                <a:cs typeface="Calibri"/>
                <a:sym typeface="Calibri"/>
              </a:rPr>
              <a:t>Lectura clave:  </a:t>
            </a:r>
            <a:r>
              <a:rPr b="0" i="1" lang="en-US" sz="1350" u="none" cap="none" strike="noStrike">
                <a:solidFill>
                  <a:srgbClr val="23262B"/>
                </a:solidFill>
                <a:latin typeface="Calibri"/>
                <a:ea typeface="Calibri"/>
                <a:cs typeface="Calibri"/>
                <a:sym typeface="Calibri"/>
              </a:rPr>
              <a:t>Indeed prioriza la simplicidad visual; Bumeran prioriza la cantidad de información disponible en pantalla.</a:t>
            </a:r>
            <a:endParaRPr b="0" i="0" sz="1350" u="none" cap="none" strike="noStrike">
              <a:solidFill>
                <a:schemeClr val="dk1"/>
              </a:solidFill>
              <a:latin typeface="Calibri"/>
              <a:ea typeface="Calibri"/>
              <a:cs typeface="Calibri"/>
              <a:sym typeface="Calibri"/>
            </a:endParaRPr>
          </a:p>
        </p:txBody>
      </p:sp>
      <p:sp>
        <p:nvSpPr>
          <p:cNvPr id="75" name="Google Shape;75;p5"/>
          <p:cNvSpPr txBox="1"/>
          <p:nvPr/>
        </p:nvSpPr>
        <p:spPr>
          <a:xfrm>
            <a:off x="457200" y="6510528"/>
            <a:ext cx="1127729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TP Integrador — Diseño y Maquetado Web  |  Etapa 1: Benchmarking  |  Lazzatti, Guerra y Regidor</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0" name="Shape 80"/>
        <p:cNvGrpSpPr/>
        <p:nvPr/>
      </p:nvGrpSpPr>
      <p:grpSpPr>
        <a:xfrm>
          <a:off x="0" y="0"/>
          <a:ext cx="0" cy="0"/>
          <a:chOff x="0" y="0"/>
          <a:chExt cx="0" cy="0"/>
        </a:xfrm>
      </p:grpSpPr>
      <p:sp>
        <p:nvSpPr>
          <p:cNvPr id="81" name="Google Shape;81;p6"/>
          <p:cNvSpPr/>
          <p:nvPr/>
        </p:nvSpPr>
        <p:spPr>
          <a:xfrm>
            <a:off x="457200" y="411480"/>
            <a:ext cx="658368" cy="65836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txBox="1"/>
          <p:nvPr/>
        </p:nvSpPr>
        <p:spPr>
          <a:xfrm>
            <a:off x="45720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2.2</a:t>
            </a:r>
            <a:endParaRPr b="0" i="0" sz="1500" u="none" cap="none" strike="noStrike">
              <a:solidFill>
                <a:schemeClr val="dk1"/>
              </a:solidFill>
              <a:latin typeface="Calibri"/>
              <a:ea typeface="Calibri"/>
              <a:cs typeface="Calibri"/>
              <a:sym typeface="Calibri"/>
            </a:endParaRPr>
          </a:p>
        </p:txBody>
      </p:sp>
      <p:sp>
        <p:nvSpPr>
          <p:cNvPr id="83" name="Google Shape;83;p6"/>
          <p:cNvSpPr txBox="1"/>
          <p:nvPr/>
        </p:nvSpPr>
        <p:spPr>
          <a:xfrm>
            <a:off x="1344168" y="384048"/>
            <a:ext cx="10390327" cy="2743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CRITERIO 2.2</a:t>
            </a:r>
            <a:endParaRPr b="0" i="0" sz="1200" u="none" cap="none" strike="noStrike">
              <a:solidFill>
                <a:schemeClr val="dk1"/>
              </a:solidFill>
              <a:latin typeface="Calibri"/>
              <a:ea typeface="Calibri"/>
              <a:cs typeface="Calibri"/>
              <a:sym typeface="Calibri"/>
            </a:endParaRPr>
          </a:p>
        </p:txBody>
      </p:sp>
      <p:sp>
        <p:nvSpPr>
          <p:cNvPr id="84" name="Google Shape;84;p6"/>
          <p:cNvSpPr txBox="1"/>
          <p:nvPr/>
        </p:nvSpPr>
        <p:spPr>
          <a:xfrm>
            <a:off x="1344168" y="621792"/>
            <a:ext cx="10390327"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F3C7E"/>
              </a:buClr>
              <a:buSzPts val="2600"/>
              <a:buFont typeface="Cambria"/>
              <a:buNone/>
            </a:pPr>
            <a:r>
              <a:rPr b="1" i="0" lang="en-US" sz="2600" u="none" cap="none" strike="noStrike">
                <a:solidFill>
                  <a:srgbClr val="2F3C7E"/>
                </a:solidFill>
                <a:latin typeface="Cambria"/>
                <a:ea typeface="Cambria"/>
                <a:cs typeface="Cambria"/>
                <a:sym typeface="Cambria"/>
              </a:rPr>
              <a:t>Buscador, filtros y categorías</a:t>
            </a:r>
            <a:endParaRPr b="0" i="0" sz="2600" u="none" cap="none" strike="noStrike">
              <a:solidFill>
                <a:schemeClr val="dk1"/>
              </a:solidFill>
              <a:latin typeface="Calibri"/>
              <a:ea typeface="Calibri"/>
              <a:cs typeface="Calibri"/>
              <a:sym typeface="Calibri"/>
            </a:endParaRPr>
          </a:p>
        </p:txBody>
      </p:sp>
      <p:sp>
        <p:nvSpPr>
          <p:cNvPr id="85" name="Google Shape;85;p6"/>
          <p:cNvSpPr/>
          <p:nvPr/>
        </p:nvSpPr>
        <p:spPr>
          <a:xfrm>
            <a:off x="457200" y="2181301"/>
            <a:ext cx="5478628" cy="2358238"/>
          </a:xfrm>
          <a:prstGeom prst="roundRect">
            <a:avLst>
              <a:gd fmla="val 5428" name="adj"/>
            </a:avLst>
          </a:prstGeom>
          <a:solidFill>
            <a:srgbClr val="EAEEF9"/>
          </a:solidFill>
          <a:ln>
            <a:noFill/>
          </a:ln>
          <a:effectLst>
            <a:outerShdw blurRad="101600" rotWithShape="0" algn="bl" dir="5400000" dist="38100">
              <a:srgbClr val="1A2140">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749808" y="2473909"/>
            <a:ext cx="1691640" cy="365760"/>
          </a:xfrm>
          <a:prstGeom prst="roundRect">
            <a:avLst>
              <a:gd fmla="val 50000"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txBox="1"/>
          <p:nvPr/>
        </p:nvSpPr>
        <p:spPr>
          <a:xfrm>
            <a:off x="749808" y="2473909"/>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INDEED</a:t>
            </a:r>
            <a:endParaRPr b="0" i="0" sz="1300" u="none" cap="none" strike="noStrike">
              <a:solidFill>
                <a:schemeClr val="dk1"/>
              </a:solidFill>
              <a:latin typeface="Calibri"/>
              <a:ea typeface="Calibri"/>
              <a:cs typeface="Calibri"/>
              <a:sym typeface="Calibri"/>
            </a:endParaRPr>
          </a:p>
        </p:txBody>
      </p:sp>
      <p:sp>
        <p:nvSpPr>
          <p:cNvPr id="88" name="Google Shape;88;p6"/>
          <p:cNvSpPr txBox="1"/>
          <p:nvPr/>
        </p:nvSpPr>
        <p:spPr>
          <a:xfrm>
            <a:off x="749808" y="3095701"/>
            <a:ext cx="4893412" cy="115123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Filtros por puesto, ubicación y fecha de publicación.</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Estructura de búsqueda simple y directa.</a:t>
            </a:r>
            <a:endParaRPr b="0" i="0" sz="1400" u="none" cap="none" strike="noStrike">
              <a:solidFill>
                <a:schemeClr val="dk1"/>
              </a:solidFill>
              <a:latin typeface="Calibri"/>
              <a:ea typeface="Calibri"/>
              <a:cs typeface="Calibri"/>
              <a:sym typeface="Calibri"/>
            </a:endParaRPr>
          </a:p>
        </p:txBody>
      </p:sp>
      <p:sp>
        <p:nvSpPr>
          <p:cNvPr id="89" name="Google Shape;89;p6"/>
          <p:cNvSpPr/>
          <p:nvPr/>
        </p:nvSpPr>
        <p:spPr>
          <a:xfrm>
            <a:off x="6255868" y="2181301"/>
            <a:ext cx="5478628" cy="2358238"/>
          </a:xfrm>
          <a:prstGeom prst="roundRect">
            <a:avLst>
              <a:gd fmla="val 5428" name="adj"/>
            </a:avLst>
          </a:prstGeom>
          <a:solidFill>
            <a:srgbClr val="FDEAEA"/>
          </a:solidFill>
          <a:ln>
            <a:noFill/>
          </a:ln>
          <a:effectLst>
            <a:outerShdw blurRad="101600" rotWithShape="0" algn="bl" dir="5400000" dist="38100">
              <a:srgbClr val="1A2140">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6548476" y="2473909"/>
            <a:ext cx="1691640" cy="365760"/>
          </a:xfrm>
          <a:prstGeom prst="roundRect">
            <a:avLst>
              <a:gd fmla="val 50000"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txBox="1"/>
          <p:nvPr/>
        </p:nvSpPr>
        <p:spPr>
          <a:xfrm>
            <a:off x="6548476" y="2473909"/>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BUMERAN</a:t>
            </a:r>
            <a:endParaRPr b="0" i="0" sz="1300" u="none" cap="none" strike="noStrike">
              <a:solidFill>
                <a:schemeClr val="dk1"/>
              </a:solidFill>
              <a:latin typeface="Calibri"/>
              <a:ea typeface="Calibri"/>
              <a:cs typeface="Calibri"/>
              <a:sym typeface="Calibri"/>
            </a:endParaRPr>
          </a:p>
        </p:txBody>
      </p:sp>
      <p:sp>
        <p:nvSpPr>
          <p:cNvPr id="92" name="Google Shape;92;p6"/>
          <p:cNvSpPr txBox="1"/>
          <p:nvPr/>
        </p:nvSpPr>
        <p:spPr>
          <a:xfrm>
            <a:off x="6548476" y="3095701"/>
            <a:ext cx="4893412" cy="115123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Mismos filtros base, más área, subárea, nivel laboral y carga horaria.</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Mayor granularidad, a costa de más pasos para llegar al resultado.</a:t>
            </a:r>
            <a:endParaRPr b="0" i="0" sz="1400" u="none" cap="none" strike="noStrike">
              <a:solidFill>
                <a:schemeClr val="dk1"/>
              </a:solidFill>
              <a:latin typeface="Calibri"/>
              <a:ea typeface="Calibri"/>
              <a:cs typeface="Calibri"/>
              <a:sym typeface="Calibri"/>
            </a:endParaRPr>
          </a:p>
        </p:txBody>
      </p:sp>
      <p:sp>
        <p:nvSpPr>
          <p:cNvPr id="93" name="Google Shape;93;p6"/>
          <p:cNvSpPr/>
          <p:nvPr/>
        </p:nvSpPr>
        <p:spPr>
          <a:xfrm>
            <a:off x="457200" y="4813859"/>
            <a:ext cx="11277295" cy="731520"/>
          </a:xfrm>
          <a:prstGeom prst="roundRect">
            <a:avLst>
              <a:gd fmla="val 15000" name="adj"/>
            </a:avLst>
          </a:prstGeom>
          <a:solidFill>
            <a:srgbClr val="F5F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txBox="1"/>
          <p:nvPr/>
        </p:nvSpPr>
        <p:spPr>
          <a:xfrm>
            <a:off x="749808" y="4813859"/>
            <a:ext cx="10692079"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3C7E"/>
              </a:buClr>
              <a:buSzPts val="1350"/>
              <a:buFont typeface="Calibri"/>
              <a:buNone/>
            </a:pPr>
            <a:r>
              <a:rPr b="1" i="0" lang="en-US" sz="1350" u="none" cap="none" strike="noStrike">
                <a:solidFill>
                  <a:srgbClr val="2F3C7E"/>
                </a:solidFill>
                <a:latin typeface="Calibri"/>
                <a:ea typeface="Calibri"/>
                <a:cs typeface="Calibri"/>
                <a:sym typeface="Calibri"/>
              </a:rPr>
              <a:t>Lectura clave:  </a:t>
            </a:r>
            <a:r>
              <a:rPr b="0" i="1" lang="en-US" sz="1350" u="none" cap="none" strike="noStrike">
                <a:solidFill>
                  <a:srgbClr val="23262B"/>
                </a:solidFill>
                <a:latin typeface="Calibri"/>
                <a:ea typeface="Calibri"/>
                <a:cs typeface="Calibri"/>
                <a:sym typeface="Calibri"/>
              </a:rPr>
              <a:t>Bumeran ofrece filtros más específicos; Indeed prioriza la rapidez de la búsqueda.</a:t>
            </a:r>
            <a:endParaRPr b="0" i="0" sz="1350" u="none" cap="none" strike="noStrike">
              <a:solidFill>
                <a:schemeClr val="dk1"/>
              </a:solidFill>
              <a:latin typeface="Calibri"/>
              <a:ea typeface="Calibri"/>
              <a:cs typeface="Calibri"/>
              <a:sym typeface="Calibri"/>
            </a:endParaRPr>
          </a:p>
        </p:txBody>
      </p:sp>
      <p:sp>
        <p:nvSpPr>
          <p:cNvPr id="95" name="Google Shape;95;p6"/>
          <p:cNvSpPr txBox="1"/>
          <p:nvPr/>
        </p:nvSpPr>
        <p:spPr>
          <a:xfrm>
            <a:off x="457200" y="6510528"/>
            <a:ext cx="1127729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TP Integrador — Diseño y Maquetado Web  |  Etapa 1: Benchmarking  |  Lazzatti, Guerra y Regidor</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7"/>
          <p:cNvSpPr/>
          <p:nvPr/>
        </p:nvSpPr>
        <p:spPr>
          <a:xfrm>
            <a:off x="457200" y="411480"/>
            <a:ext cx="658368" cy="65836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txBox="1"/>
          <p:nvPr/>
        </p:nvSpPr>
        <p:spPr>
          <a:xfrm>
            <a:off x="45720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2.3</a:t>
            </a:r>
            <a:endParaRPr b="0" i="0" sz="1500" u="none" cap="none" strike="noStrike">
              <a:solidFill>
                <a:schemeClr val="dk1"/>
              </a:solidFill>
              <a:latin typeface="Calibri"/>
              <a:ea typeface="Calibri"/>
              <a:cs typeface="Calibri"/>
              <a:sym typeface="Calibri"/>
            </a:endParaRPr>
          </a:p>
        </p:txBody>
      </p:sp>
      <p:sp>
        <p:nvSpPr>
          <p:cNvPr id="103" name="Google Shape;103;p7"/>
          <p:cNvSpPr txBox="1"/>
          <p:nvPr/>
        </p:nvSpPr>
        <p:spPr>
          <a:xfrm>
            <a:off x="1344168" y="384048"/>
            <a:ext cx="10390327" cy="2743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CRITERIO 2.3</a:t>
            </a:r>
            <a:endParaRPr b="0" i="0" sz="1200" u="none" cap="none" strike="noStrike">
              <a:solidFill>
                <a:schemeClr val="dk1"/>
              </a:solidFill>
              <a:latin typeface="Calibri"/>
              <a:ea typeface="Calibri"/>
              <a:cs typeface="Calibri"/>
              <a:sym typeface="Calibri"/>
            </a:endParaRPr>
          </a:p>
        </p:txBody>
      </p:sp>
      <p:sp>
        <p:nvSpPr>
          <p:cNvPr id="104" name="Google Shape;104;p7"/>
          <p:cNvSpPr txBox="1"/>
          <p:nvPr/>
        </p:nvSpPr>
        <p:spPr>
          <a:xfrm>
            <a:off x="1344168" y="621792"/>
            <a:ext cx="10390327"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F3C7E"/>
              </a:buClr>
              <a:buSzPts val="2300"/>
              <a:buFont typeface="Cambria"/>
              <a:buNone/>
            </a:pPr>
            <a:r>
              <a:rPr b="1" i="0" lang="en-US" sz="2300" u="none" cap="none" strike="noStrike">
                <a:solidFill>
                  <a:srgbClr val="2F3C7E"/>
                </a:solidFill>
                <a:latin typeface="Cambria"/>
                <a:ea typeface="Cambria"/>
                <a:cs typeface="Cambria"/>
                <a:sym typeface="Cambria"/>
              </a:rPr>
              <a:t>Presentación de las ofertas: jerarquías y llamados a la acción</a:t>
            </a:r>
            <a:endParaRPr b="0" i="0" sz="2300" u="none" cap="none" strike="noStrike">
              <a:solidFill>
                <a:schemeClr val="dk1"/>
              </a:solidFill>
              <a:latin typeface="Calibri"/>
              <a:ea typeface="Calibri"/>
              <a:cs typeface="Calibri"/>
              <a:sym typeface="Calibri"/>
            </a:endParaRPr>
          </a:p>
        </p:txBody>
      </p:sp>
      <p:sp>
        <p:nvSpPr>
          <p:cNvPr id="105" name="Google Shape;105;p7"/>
          <p:cNvSpPr/>
          <p:nvPr/>
        </p:nvSpPr>
        <p:spPr>
          <a:xfrm>
            <a:off x="457200" y="1902866"/>
            <a:ext cx="5478628" cy="2915107"/>
          </a:xfrm>
          <a:prstGeom prst="roundRect">
            <a:avLst>
              <a:gd fmla="val 4391" name="adj"/>
            </a:avLst>
          </a:prstGeom>
          <a:solidFill>
            <a:srgbClr val="EAEEF9"/>
          </a:solidFill>
          <a:ln>
            <a:noFill/>
          </a:ln>
          <a:effectLst>
            <a:outerShdw blurRad="101600" rotWithShape="0" algn="bl" dir="5400000" dist="38100">
              <a:srgbClr val="1A2140">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7"/>
          <p:cNvSpPr/>
          <p:nvPr/>
        </p:nvSpPr>
        <p:spPr>
          <a:xfrm>
            <a:off x="749808" y="2195474"/>
            <a:ext cx="1691640" cy="365760"/>
          </a:xfrm>
          <a:prstGeom prst="roundRect">
            <a:avLst>
              <a:gd fmla="val 50000"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txBox="1"/>
          <p:nvPr/>
        </p:nvSpPr>
        <p:spPr>
          <a:xfrm>
            <a:off x="749808" y="2195474"/>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INDEED</a:t>
            </a:r>
            <a:endParaRPr b="0" i="0" sz="1300" u="none" cap="none" strike="noStrike">
              <a:solidFill>
                <a:schemeClr val="dk1"/>
              </a:solidFill>
              <a:latin typeface="Calibri"/>
              <a:ea typeface="Calibri"/>
              <a:cs typeface="Calibri"/>
              <a:sym typeface="Calibri"/>
            </a:endParaRPr>
          </a:p>
        </p:txBody>
      </p:sp>
      <p:sp>
        <p:nvSpPr>
          <p:cNvPr id="108" name="Google Shape;108;p7"/>
          <p:cNvSpPr txBox="1"/>
          <p:nvPr/>
        </p:nvSpPr>
        <p:spPr>
          <a:xfrm>
            <a:off x="749808" y="2817266"/>
            <a:ext cx="4893412" cy="1708099"/>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Vista dividida: listado a la izquierda, detalle a la derecha.</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El detalle no recarga la página; el botón de postulación queda siempre visible.</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Ofertas ordenadas según qué tan probable es obtener una respuesta.</a:t>
            </a:r>
            <a:endParaRPr b="0" i="0" sz="1400" u="none" cap="none" strike="noStrike">
              <a:solidFill>
                <a:schemeClr val="dk1"/>
              </a:solidFill>
              <a:latin typeface="Calibri"/>
              <a:ea typeface="Calibri"/>
              <a:cs typeface="Calibri"/>
              <a:sym typeface="Calibri"/>
            </a:endParaRPr>
          </a:p>
        </p:txBody>
      </p:sp>
      <p:sp>
        <p:nvSpPr>
          <p:cNvPr id="109" name="Google Shape;109;p7"/>
          <p:cNvSpPr/>
          <p:nvPr/>
        </p:nvSpPr>
        <p:spPr>
          <a:xfrm>
            <a:off x="6255868" y="1902866"/>
            <a:ext cx="5478628" cy="2915107"/>
          </a:xfrm>
          <a:prstGeom prst="roundRect">
            <a:avLst>
              <a:gd fmla="val 4391" name="adj"/>
            </a:avLst>
          </a:prstGeom>
          <a:solidFill>
            <a:srgbClr val="FDEAEA"/>
          </a:solidFill>
          <a:ln>
            <a:noFill/>
          </a:ln>
          <a:effectLst>
            <a:outerShdw blurRad="101600" rotWithShape="0" algn="bl" dir="5400000" dist="38100">
              <a:srgbClr val="1A2140">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6548476" y="2195474"/>
            <a:ext cx="1691640" cy="365760"/>
          </a:xfrm>
          <a:prstGeom prst="roundRect">
            <a:avLst>
              <a:gd fmla="val 50000"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txBox="1"/>
          <p:nvPr/>
        </p:nvSpPr>
        <p:spPr>
          <a:xfrm>
            <a:off x="6548476" y="2195474"/>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BUMERAN</a:t>
            </a:r>
            <a:endParaRPr b="0" i="0" sz="1300" u="none" cap="none" strike="noStrike">
              <a:solidFill>
                <a:schemeClr val="dk1"/>
              </a:solidFill>
              <a:latin typeface="Calibri"/>
              <a:ea typeface="Calibri"/>
              <a:cs typeface="Calibri"/>
              <a:sym typeface="Calibri"/>
            </a:endParaRPr>
          </a:p>
        </p:txBody>
      </p:sp>
      <p:sp>
        <p:nvSpPr>
          <p:cNvPr id="112" name="Google Shape;112;p7"/>
          <p:cNvSpPr txBox="1"/>
          <p:nvPr/>
        </p:nvSpPr>
        <p:spPr>
          <a:xfrm>
            <a:off x="6548476" y="2817266"/>
            <a:ext cx="4893412" cy="1708099"/>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Solo listado; ver el detalle lleva a otra vista.</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El botón de postulación aparece recién dentro de esa vista.</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Orden por relevancia por defecto, reordenable por más recientes.</a:t>
            </a:r>
            <a:endParaRPr b="0" i="0" sz="1400" u="none" cap="none" strike="noStrike">
              <a:solidFill>
                <a:schemeClr val="dk1"/>
              </a:solidFill>
              <a:latin typeface="Calibri"/>
              <a:ea typeface="Calibri"/>
              <a:cs typeface="Calibri"/>
              <a:sym typeface="Calibri"/>
            </a:endParaRPr>
          </a:p>
        </p:txBody>
      </p:sp>
      <p:sp>
        <p:nvSpPr>
          <p:cNvPr id="113" name="Google Shape;113;p7"/>
          <p:cNvSpPr/>
          <p:nvPr/>
        </p:nvSpPr>
        <p:spPr>
          <a:xfrm>
            <a:off x="457200" y="5092294"/>
            <a:ext cx="11277295" cy="731520"/>
          </a:xfrm>
          <a:prstGeom prst="roundRect">
            <a:avLst>
              <a:gd fmla="val 15000" name="adj"/>
            </a:avLst>
          </a:prstGeom>
          <a:solidFill>
            <a:srgbClr val="F5F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txBox="1"/>
          <p:nvPr/>
        </p:nvSpPr>
        <p:spPr>
          <a:xfrm>
            <a:off x="749808" y="5092294"/>
            <a:ext cx="10692079"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3C7E"/>
              </a:buClr>
              <a:buSzPts val="1350"/>
              <a:buFont typeface="Calibri"/>
              <a:buNone/>
            </a:pPr>
            <a:r>
              <a:rPr b="1" i="0" lang="en-US" sz="1350" u="none" cap="none" strike="noStrike">
                <a:solidFill>
                  <a:srgbClr val="2F3C7E"/>
                </a:solidFill>
                <a:latin typeface="Calibri"/>
                <a:ea typeface="Calibri"/>
                <a:cs typeface="Calibri"/>
                <a:sym typeface="Calibri"/>
              </a:rPr>
              <a:t>Lectura clave:  </a:t>
            </a:r>
            <a:r>
              <a:rPr b="0" i="1" lang="en-US" sz="1350" u="none" cap="none" strike="noStrike">
                <a:solidFill>
                  <a:srgbClr val="23262B"/>
                </a:solidFill>
                <a:latin typeface="Calibri"/>
                <a:ea typeface="Calibri"/>
                <a:cs typeface="Calibri"/>
                <a:sym typeface="Calibri"/>
              </a:rPr>
              <a:t>Indeed reduce la fricción de navegación al mantener listado y detalle en una misma pantalla.</a:t>
            </a:r>
            <a:endParaRPr b="0" i="0" sz="1350" u="none" cap="none" strike="noStrike">
              <a:solidFill>
                <a:schemeClr val="dk1"/>
              </a:solidFill>
              <a:latin typeface="Calibri"/>
              <a:ea typeface="Calibri"/>
              <a:cs typeface="Calibri"/>
              <a:sym typeface="Calibri"/>
            </a:endParaRPr>
          </a:p>
        </p:txBody>
      </p:sp>
      <p:sp>
        <p:nvSpPr>
          <p:cNvPr id="115" name="Google Shape;115;p7"/>
          <p:cNvSpPr txBox="1"/>
          <p:nvPr/>
        </p:nvSpPr>
        <p:spPr>
          <a:xfrm>
            <a:off x="457200" y="6510528"/>
            <a:ext cx="1127729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TP Integrador — Diseño y Maquetado Web  |  Etapa 1: Benchmarking  |  Lazzatti, Guerra y Regidor</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 name="Shape 120"/>
        <p:cNvGrpSpPr/>
        <p:nvPr/>
      </p:nvGrpSpPr>
      <p:grpSpPr>
        <a:xfrm>
          <a:off x="0" y="0"/>
          <a:ext cx="0" cy="0"/>
          <a:chOff x="0" y="0"/>
          <a:chExt cx="0" cy="0"/>
        </a:xfrm>
      </p:grpSpPr>
      <p:sp>
        <p:nvSpPr>
          <p:cNvPr id="121" name="Google Shape;121;p8"/>
          <p:cNvSpPr/>
          <p:nvPr/>
        </p:nvSpPr>
        <p:spPr>
          <a:xfrm>
            <a:off x="457200" y="411480"/>
            <a:ext cx="658368" cy="65836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txBox="1"/>
          <p:nvPr/>
        </p:nvSpPr>
        <p:spPr>
          <a:xfrm>
            <a:off x="45720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2.4</a:t>
            </a:r>
            <a:endParaRPr b="0" i="0" sz="1500" u="none" cap="none" strike="noStrike">
              <a:solidFill>
                <a:schemeClr val="dk1"/>
              </a:solidFill>
              <a:latin typeface="Calibri"/>
              <a:ea typeface="Calibri"/>
              <a:cs typeface="Calibri"/>
              <a:sym typeface="Calibri"/>
            </a:endParaRPr>
          </a:p>
        </p:txBody>
      </p:sp>
      <p:sp>
        <p:nvSpPr>
          <p:cNvPr id="123" name="Google Shape;123;p8"/>
          <p:cNvSpPr txBox="1"/>
          <p:nvPr/>
        </p:nvSpPr>
        <p:spPr>
          <a:xfrm>
            <a:off x="1344168" y="384048"/>
            <a:ext cx="10390327" cy="2743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CRITERIO 2.4</a:t>
            </a:r>
            <a:endParaRPr b="0" i="0" sz="1200" u="none" cap="none" strike="noStrike">
              <a:solidFill>
                <a:schemeClr val="dk1"/>
              </a:solidFill>
              <a:latin typeface="Calibri"/>
              <a:ea typeface="Calibri"/>
              <a:cs typeface="Calibri"/>
              <a:sym typeface="Calibri"/>
            </a:endParaRPr>
          </a:p>
        </p:txBody>
      </p:sp>
      <p:sp>
        <p:nvSpPr>
          <p:cNvPr id="124" name="Google Shape;124;p8"/>
          <p:cNvSpPr txBox="1"/>
          <p:nvPr/>
        </p:nvSpPr>
        <p:spPr>
          <a:xfrm>
            <a:off x="1344168" y="621792"/>
            <a:ext cx="10390327"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F3C7E"/>
              </a:buClr>
              <a:buSzPts val="2600"/>
              <a:buFont typeface="Cambria"/>
              <a:buNone/>
            </a:pPr>
            <a:r>
              <a:rPr b="1" i="0" lang="en-US" sz="2600" u="none" cap="none" strike="noStrike">
                <a:solidFill>
                  <a:srgbClr val="2F3C7E"/>
                </a:solidFill>
                <a:latin typeface="Cambria"/>
                <a:ea typeface="Cambria"/>
                <a:cs typeface="Cambria"/>
                <a:sym typeface="Cambria"/>
              </a:rPr>
              <a:t>Proceso de postulación</a:t>
            </a:r>
            <a:endParaRPr b="0" i="0" sz="2600" u="none" cap="none" strike="noStrike">
              <a:solidFill>
                <a:schemeClr val="dk1"/>
              </a:solidFill>
              <a:latin typeface="Calibri"/>
              <a:ea typeface="Calibri"/>
              <a:cs typeface="Calibri"/>
              <a:sym typeface="Calibri"/>
            </a:endParaRPr>
          </a:p>
        </p:txBody>
      </p:sp>
      <p:sp>
        <p:nvSpPr>
          <p:cNvPr id="125" name="Google Shape;125;p8"/>
          <p:cNvSpPr/>
          <p:nvPr/>
        </p:nvSpPr>
        <p:spPr>
          <a:xfrm>
            <a:off x="457200" y="2217420"/>
            <a:ext cx="5478628" cy="2286000"/>
          </a:xfrm>
          <a:prstGeom prst="roundRect">
            <a:avLst>
              <a:gd fmla="val 5600" name="adj"/>
            </a:avLst>
          </a:prstGeom>
          <a:solidFill>
            <a:srgbClr val="EAEEF9"/>
          </a:solidFill>
          <a:ln>
            <a:noFill/>
          </a:ln>
          <a:effectLst>
            <a:outerShdw blurRad="101600" rotWithShape="0" algn="bl" dir="5400000" dist="38100">
              <a:srgbClr val="1A2140">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a:off x="749808" y="2510028"/>
            <a:ext cx="1691640" cy="365760"/>
          </a:xfrm>
          <a:prstGeom prst="roundRect">
            <a:avLst>
              <a:gd fmla="val 50000"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txBox="1"/>
          <p:nvPr/>
        </p:nvSpPr>
        <p:spPr>
          <a:xfrm>
            <a:off x="749808" y="2510028"/>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INDEED</a:t>
            </a:r>
            <a:endParaRPr b="0" i="0" sz="1300" u="none" cap="none" strike="noStrike">
              <a:solidFill>
                <a:schemeClr val="dk1"/>
              </a:solidFill>
              <a:latin typeface="Calibri"/>
              <a:ea typeface="Calibri"/>
              <a:cs typeface="Calibri"/>
              <a:sym typeface="Calibri"/>
            </a:endParaRPr>
          </a:p>
        </p:txBody>
      </p:sp>
      <p:sp>
        <p:nvSpPr>
          <p:cNvPr id="128" name="Google Shape;128;p8"/>
          <p:cNvSpPr txBox="1"/>
          <p:nvPr/>
        </p:nvSpPr>
        <p:spPr>
          <a:xfrm>
            <a:off x="749808" y="3131820"/>
            <a:ext cx="4893412" cy="107899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Dos vías: redirección al sitio de la empresa, o postulación guiada con login previo.</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Acompaña el proceso paso a paso.</a:t>
            </a:r>
            <a:endParaRPr b="0" i="0" sz="1400" u="none" cap="none" strike="noStrike">
              <a:solidFill>
                <a:schemeClr val="dk1"/>
              </a:solidFill>
              <a:latin typeface="Calibri"/>
              <a:ea typeface="Calibri"/>
              <a:cs typeface="Calibri"/>
              <a:sym typeface="Calibri"/>
            </a:endParaRPr>
          </a:p>
        </p:txBody>
      </p:sp>
      <p:sp>
        <p:nvSpPr>
          <p:cNvPr id="129" name="Google Shape;129;p8"/>
          <p:cNvSpPr/>
          <p:nvPr/>
        </p:nvSpPr>
        <p:spPr>
          <a:xfrm>
            <a:off x="6255868" y="2217420"/>
            <a:ext cx="5478628" cy="2286000"/>
          </a:xfrm>
          <a:prstGeom prst="roundRect">
            <a:avLst>
              <a:gd fmla="val 5600" name="adj"/>
            </a:avLst>
          </a:prstGeom>
          <a:solidFill>
            <a:srgbClr val="FDEAEA"/>
          </a:solidFill>
          <a:ln>
            <a:noFill/>
          </a:ln>
          <a:effectLst>
            <a:outerShdw blurRad="101600" rotWithShape="0" algn="bl" dir="5400000" dist="38100">
              <a:srgbClr val="1A2140">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6548476" y="2510028"/>
            <a:ext cx="1691640" cy="365760"/>
          </a:xfrm>
          <a:prstGeom prst="roundRect">
            <a:avLst>
              <a:gd fmla="val 50000"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txBox="1"/>
          <p:nvPr/>
        </p:nvSpPr>
        <p:spPr>
          <a:xfrm>
            <a:off x="6548476" y="2510028"/>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BUMERAN</a:t>
            </a:r>
            <a:endParaRPr b="0" i="0" sz="1300" u="none" cap="none" strike="noStrike">
              <a:solidFill>
                <a:schemeClr val="dk1"/>
              </a:solidFill>
              <a:latin typeface="Calibri"/>
              <a:ea typeface="Calibri"/>
              <a:cs typeface="Calibri"/>
              <a:sym typeface="Calibri"/>
            </a:endParaRPr>
          </a:p>
        </p:txBody>
      </p:sp>
      <p:sp>
        <p:nvSpPr>
          <p:cNvPr id="132" name="Google Shape;132;p8"/>
          <p:cNvSpPr txBox="1"/>
          <p:nvPr/>
        </p:nvSpPr>
        <p:spPr>
          <a:xfrm>
            <a:off x="6548476" y="3131820"/>
            <a:ext cx="4893412" cy="107899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Postulación en un solo click.</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Pide responder unas preguntas y la postulación queda confirmada.</a:t>
            </a:r>
            <a:endParaRPr b="0" i="0" sz="1400" u="none" cap="none" strike="noStrike">
              <a:solidFill>
                <a:schemeClr val="dk1"/>
              </a:solidFill>
              <a:latin typeface="Calibri"/>
              <a:ea typeface="Calibri"/>
              <a:cs typeface="Calibri"/>
              <a:sym typeface="Calibri"/>
            </a:endParaRPr>
          </a:p>
        </p:txBody>
      </p:sp>
      <p:sp>
        <p:nvSpPr>
          <p:cNvPr id="133" name="Google Shape;133;p8"/>
          <p:cNvSpPr/>
          <p:nvPr/>
        </p:nvSpPr>
        <p:spPr>
          <a:xfrm>
            <a:off x="457200" y="4777740"/>
            <a:ext cx="11277295" cy="731520"/>
          </a:xfrm>
          <a:prstGeom prst="roundRect">
            <a:avLst>
              <a:gd fmla="val 15000" name="adj"/>
            </a:avLst>
          </a:prstGeom>
          <a:solidFill>
            <a:srgbClr val="F5F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txBox="1"/>
          <p:nvPr/>
        </p:nvSpPr>
        <p:spPr>
          <a:xfrm>
            <a:off x="749808" y="4777740"/>
            <a:ext cx="10692079"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3C7E"/>
              </a:buClr>
              <a:buSzPts val="1350"/>
              <a:buFont typeface="Calibri"/>
              <a:buNone/>
            </a:pPr>
            <a:r>
              <a:rPr b="1" i="0" lang="en-US" sz="1350" u="none" cap="none" strike="noStrike">
                <a:solidFill>
                  <a:srgbClr val="2F3C7E"/>
                </a:solidFill>
                <a:latin typeface="Calibri"/>
                <a:ea typeface="Calibri"/>
                <a:cs typeface="Calibri"/>
                <a:sym typeface="Calibri"/>
              </a:rPr>
              <a:t>Lectura clave:  </a:t>
            </a:r>
            <a:r>
              <a:rPr b="0" i="1" lang="en-US" sz="1350" u="none" cap="none" strike="noStrike">
                <a:solidFill>
                  <a:srgbClr val="23262B"/>
                </a:solidFill>
                <a:latin typeface="Calibri"/>
                <a:ea typeface="Calibri"/>
                <a:cs typeface="Calibri"/>
                <a:sym typeface="Calibri"/>
              </a:rPr>
              <a:t>Bumeran prioriza la velocidad de postulación; Indeed prioriza el acompañamiento durante el proceso.</a:t>
            </a:r>
            <a:endParaRPr b="0" i="0" sz="1350" u="none" cap="none" strike="noStrike">
              <a:solidFill>
                <a:schemeClr val="dk1"/>
              </a:solidFill>
              <a:latin typeface="Calibri"/>
              <a:ea typeface="Calibri"/>
              <a:cs typeface="Calibri"/>
              <a:sym typeface="Calibri"/>
            </a:endParaRPr>
          </a:p>
        </p:txBody>
      </p:sp>
      <p:sp>
        <p:nvSpPr>
          <p:cNvPr id="135" name="Google Shape;135;p8"/>
          <p:cNvSpPr txBox="1"/>
          <p:nvPr/>
        </p:nvSpPr>
        <p:spPr>
          <a:xfrm>
            <a:off x="457200" y="6510528"/>
            <a:ext cx="1127729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TP Integrador — Diseño y Maquetado Web  |  Etapa 1: Benchmarking  |  Lazzatti, Guerra y Regidor</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0" name="Shape 140"/>
        <p:cNvGrpSpPr/>
        <p:nvPr/>
      </p:nvGrpSpPr>
      <p:grpSpPr>
        <a:xfrm>
          <a:off x="0" y="0"/>
          <a:ext cx="0" cy="0"/>
          <a:chOff x="0" y="0"/>
          <a:chExt cx="0" cy="0"/>
        </a:xfrm>
      </p:grpSpPr>
      <p:sp>
        <p:nvSpPr>
          <p:cNvPr id="141" name="Google Shape;141;p9"/>
          <p:cNvSpPr/>
          <p:nvPr/>
        </p:nvSpPr>
        <p:spPr>
          <a:xfrm>
            <a:off x="457200" y="411480"/>
            <a:ext cx="658368" cy="65836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9"/>
          <p:cNvSpPr txBox="1"/>
          <p:nvPr/>
        </p:nvSpPr>
        <p:spPr>
          <a:xfrm>
            <a:off x="45720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2.5</a:t>
            </a:r>
            <a:endParaRPr b="0" i="0" sz="1500" u="none" cap="none" strike="noStrike">
              <a:solidFill>
                <a:schemeClr val="dk1"/>
              </a:solidFill>
              <a:latin typeface="Calibri"/>
              <a:ea typeface="Calibri"/>
              <a:cs typeface="Calibri"/>
              <a:sym typeface="Calibri"/>
            </a:endParaRPr>
          </a:p>
        </p:txBody>
      </p:sp>
      <p:sp>
        <p:nvSpPr>
          <p:cNvPr id="143" name="Google Shape;143;p9"/>
          <p:cNvSpPr txBox="1"/>
          <p:nvPr/>
        </p:nvSpPr>
        <p:spPr>
          <a:xfrm>
            <a:off x="1344168" y="384048"/>
            <a:ext cx="10390327" cy="2743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CRITERIO 2.5</a:t>
            </a:r>
            <a:endParaRPr b="0" i="0" sz="1200" u="none" cap="none" strike="noStrike">
              <a:solidFill>
                <a:schemeClr val="dk1"/>
              </a:solidFill>
              <a:latin typeface="Calibri"/>
              <a:ea typeface="Calibri"/>
              <a:cs typeface="Calibri"/>
              <a:sym typeface="Calibri"/>
            </a:endParaRPr>
          </a:p>
        </p:txBody>
      </p:sp>
      <p:sp>
        <p:nvSpPr>
          <p:cNvPr id="144" name="Google Shape;144;p9"/>
          <p:cNvSpPr txBox="1"/>
          <p:nvPr/>
        </p:nvSpPr>
        <p:spPr>
          <a:xfrm>
            <a:off x="1344168" y="621792"/>
            <a:ext cx="10390327"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F3C7E"/>
              </a:buClr>
              <a:buSzPts val="2600"/>
              <a:buFont typeface="Cambria"/>
              <a:buNone/>
            </a:pPr>
            <a:r>
              <a:rPr b="1" i="0" lang="en-US" sz="2600" u="none" cap="none" strike="noStrike">
                <a:solidFill>
                  <a:srgbClr val="2F3C7E"/>
                </a:solidFill>
                <a:latin typeface="Cambria"/>
                <a:ea typeface="Cambria"/>
                <a:cs typeface="Cambria"/>
                <a:sym typeface="Cambria"/>
              </a:rPr>
              <a:t>Color y tipografía</a:t>
            </a:r>
            <a:endParaRPr b="0" i="0" sz="2600" u="none" cap="none" strike="noStrike">
              <a:solidFill>
                <a:schemeClr val="dk1"/>
              </a:solidFill>
              <a:latin typeface="Calibri"/>
              <a:ea typeface="Calibri"/>
              <a:cs typeface="Calibri"/>
              <a:sym typeface="Calibri"/>
            </a:endParaRPr>
          </a:p>
        </p:txBody>
      </p:sp>
      <p:sp>
        <p:nvSpPr>
          <p:cNvPr id="145" name="Google Shape;145;p9"/>
          <p:cNvSpPr/>
          <p:nvPr/>
        </p:nvSpPr>
        <p:spPr>
          <a:xfrm>
            <a:off x="457200" y="1902866"/>
            <a:ext cx="5478628" cy="2915107"/>
          </a:xfrm>
          <a:prstGeom prst="roundRect">
            <a:avLst>
              <a:gd fmla="val 4391" name="adj"/>
            </a:avLst>
          </a:prstGeom>
          <a:solidFill>
            <a:srgbClr val="EAEEF9"/>
          </a:solidFill>
          <a:ln>
            <a:noFill/>
          </a:ln>
          <a:effectLst>
            <a:outerShdw blurRad="101600" rotWithShape="0" algn="bl" dir="5400000" dist="38100">
              <a:srgbClr val="1A2140">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9"/>
          <p:cNvSpPr/>
          <p:nvPr/>
        </p:nvSpPr>
        <p:spPr>
          <a:xfrm>
            <a:off x="749808" y="2195474"/>
            <a:ext cx="1691640" cy="365760"/>
          </a:xfrm>
          <a:prstGeom prst="roundRect">
            <a:avLst>
              <a:gd fmla="val 50000" name="adj"/>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9"/>
          <p:cNvSpPr txBox="1"/>
          <p:nvPr/>
        </p:nvSpPr>
        <p:spPr>
          <a:xfrm>
            <a:off x="749808" y="2195474"/>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INDEED</a:t>
            </a:r>
            <a:endParaRPr b="0" i="0" sz="1300" u="none" cap="none" strike="noStrike">
              <a:solidFill>
                <a:schemeClr val="dk1"/>
              </a:solidFill>
              <a:latin typeface="Calibri"/>
              <a:ea typeface="Calibri"/>
              <a:cs typeface="Calibri"/>
              <a:sym typeface="Calibri"/>
            </a:endParaRPr>
          </a:p>
        </p:txBody>
      </p:sp>
      <p:sp>
        <p:nvSpPr>
          <p:cNvPr id="148" name="Google Shape;148;p9"/>
          <p:cNvSpPr txBox="1"/>
          <p:nvPr/>
        </p:nvSpPr>
        <p:spPr>
          <a:xfrm>
            <a:off x="749808" y="2817266"/>
            <a:ext cx="4893412" cy="1708099"/>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Fondo blanco; azul (mayormente oscuro) como color de acento.</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Paleta minimalista y ordenada.</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Tipografía sans-serif, con fuente propia en logo y comunicación.</a:t>
            </a:r>
            <a:endParaRPr b="0" i="0" sz="1400" u="none" cap="none" strike="noStrike">
              <a:solidFill>
                <a:schemeClr val="dk1"/>
              </a:solidFill>
              <a:latin typeface="Calibri"/>
              <a:ea typeface="Calibri"/>
              <a:cs typeface="Calibri"/>
              <a:sym typeface="Calibri"/>
            </a:endParaRPr>
          </a:p>
        </p:txBody>
      </p:sp>
      <p:sp>
        <p:nvSpPr>
          <p:cNvPr id="149" name="Google Shape;149;p9"/>
          <p:cNvSpPr/>
          <p:nvPr/>
        </p:nvSpPr>
        <p:spPr>
          <a:xfrm>
            <a:off x="6255868" y="1902866"/>
            <a:ext cx="5478628" cy="2915107"/>
          </a:xfrm>
          <a:prstGeom prst="roundRect">
            <a:avLst>
              <a:gd fmla="val 4391" name="adj"/>
            </a:avLst>
          </a:prstGeom>
          <a:solidFill>
            <a:srgbClr val="FDEAEA"/>
          </a:solidFill>
          <a:ln>
            <a:noFill/>
          </a:ln>
          <a:effectLst>
            <a:outerShdw blurRad="101600" rotWithShape="0" algn="bl" dir="5400000" dist="38100">
              <a:srgbClr val="1A2140">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
          <p:cNvSpPr/>
          <p:nvPr/>
        </p:nvSpPr>
        <p:spPr>
          <a:xfrm>
            <a:off x="6548476" y="2195474"/>
            <a:ext cx="1691640" cy="365760"/>
          </a:xfrm>
          <a:prstGeom prst="roundRect">
            <a:avLst>
              <a:gd fmla="val 50000" name="adj"/>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
          <p:cNvSpPr txBox="1"/>
          <p:nvPr/>
        </p:nvSpPr>
        <p:spPr>
          <a:xfrm>
            <a:off x="6548476" y="2195474"/>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BUMERAN</a:t>
            </a:r>
            <a:endParaRPr b="0" i="0" sz="1300" u="none" cap="none" strike="noStrike">
              <a:solidFill>
                <a:schemeClr val="dk1"/>
              </a:solidFill>
              <a:latin typeface="Calibri"/>
              <a:ea typeface="Calibri"/>
              <a:cs typeface="Calibri"/>
              <a:sym typeface="Calibri"/>
            </a:endParaRPr>
          </a:p>
        </p:txBody>
      </p:sp>
      <p:sp>
        <p:nvSpPr>
          <p:cNvPr id="152" name="Google Shape;152;p9"/>
          <p:cNvSpPr txBox="1"/>
          <p:nvPr/>
        </p:nvSpPr>
        <p:spPr>
          <a:xfrm>
            <a:off x="6548476" y="2817266"/>
            <a:ext cx="4893412" cy="1708099"/>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Misma base blanco + azul oscuro, sumando violeta, rosa y naranja en elementos menores.</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Uso de color poco sistemático: el borde naranja de las cards remite a ZonaJobs, sin explicación clara.</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23262B"/>
              </a:buClr>
              <a:buSzPts val="1400"/>
              <a:buFont typeface="Calibri"/>
              <a:buChar char="–"/>
            </a:pPr>
            <a:r>
              <a:rPr b="0" i="0" lang="en-US" sz="1400" u="none" cap="none" strike="noStrike">
                <a:solidFill>
                  <a:srgbClr val="23262B"/>
                </a:solidFill>
                <a:latin typeface="Calibri"/>
                <a:ea typeface="Calibri"/>
                <a:cs typeface="Calibri"/>
                <a:sym typeface="Calibri"/>
              </a:rPr>
              <a:t>Tipografía sans-serif, con fuente propia en logo y comunicación.</a:t>
            </a:r>
            <a:endParaRPr b="0" i="0" sz="1400" u="none" cap="none" strike="noStrike">
              <a:solidFill>
                <a:schemeClr val="dk1"/>
              </a:solidFill>
              <a:latin typeface="Calibri"/>
              <a:ea typeface="Calibri"/>
              <a:cs typeface="Calibri"/>
              <a:sym typeface="Calibri"/>
            </a:endParaRPr>
          </a:p>
        </p:txBody>
      </p:sp>
      <p:sp>
        <p:nvSpPr>
          <p:cNvPr id="153" name="Google Shape;153;p9"/>
          <p:cNvSpPr/>
          <p:nvPr/>
        </p:nvSpPr>
        <p:spPr>
          <a:xfrm>
            <a:off x="457200" y="5092294"/>
            <a:ext cx="11277295" cy="731520"/>
          </a:xfrm>
          <a:prstGeom prst="roundRect">
            <a:avLst>
              <a:gd fmla="val 15000" name="adj"/>
            </a:avLst>
          </a:prstGeom>
          <a:solidFill>
            <a:srgbClr val="F5F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
          <p:cNvSpPr txBox="1"/>
          <p:nvPr/>
        </p:nvSpPr>
        <p:spPr>
          <a:xfrm>
            <a:off x="749808" y="5092294"/>
            <a:ext cx="10692079"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3C7E"/>
              </a:buClr>
              <a:buSzPts val="1350"/>
              <a:buFont typeface="Calibri"/>
              <a:buNone/>
            </a:pPr>
            <a:r>
              <a:rPr b="1" i="0" lang="en-US" sz="1350" u="none" cap="none" strike="noStrike">
                <a:solidFill>
                  <a:srgbClr val="2F3C7E"/>
                </a:solidFill>
                <a:latin typeface="Calibri"/>
                <a:ea typeface="Calibri"/>
                <a:cs typeface="Calibri"/>
                <a:sym typeface="Calibri"/>
              </a:rPr>
              <a:t>Lectura clave:  </a:t>
            </a:r>
            <a:r>
              <a:rPr b="0" i="1" lang="en-US" sz="1350" u="none" cap="none" strike="noStrike">
                <a:solidFill>
                  <a:srgbClr val="23262B"/>
                </a:solidFill>
                <a:latin typeface="Calibri"/>
                <a:ea typeface="Calibri"/>
                <a:cs typeface="Calibri"/>
                <a:sym typeface="Calibri"/>
              </a:rPr>
              <a:t>El uso del color en Bumeran es menos consistente que en Indeed; la paleta ampliada no siempre comunica algo.</a:t>
            </a:r>
            <a:endParaRPr b="0" i="0" sz="1350" u="none" cap="none" strike="noStrike">
              <a:solidFill>
                <a:schemeClr val="dk1"/>
              </a:solidFill>
              <a:latin typeface="Calibri"/>
              <a:ea typeface="Calibri"/>
              <a:cs typeface="Calibri"/>
              <a:sym typeface="Calibri"/>
            </a:endParaRPr>
          </a:p>
        </p:txBody>
      </p:sp>
      <p:sp>
        <p:nvSpPr>
          <p:cNvPr id="155" name="Google Shape;155;p9"/>
          <p:cNvSpPr txBox="1"/>
          <p:nvPr/>
        </p:nvSpPr>
        <p:spPr>
          <a:xfrm>
            <a:off x="457200" y="6510528"/>
            <a:ext cx="1127729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TP Integrador — Diseño y Maquetado Web  |  Etapa 1: Benchmarking  |  Lazzatti, Guerra y Regidor</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0" name="Shape 160"/>
        <p:cNvGrpSpPr/>
        <p:nvPr/>
      </p:nvGrpSpPr>
      <p:grpSpPr>
        <a:xfrm>
          <a:off x="0" y="0"/>
          <a:ext cx="0" cy="0"/>
          <a:chOff x="0" y="0"/>
          <a:chExt cx="0" cy="0"/>
        </a:xfrm>
      </p:grpSpPr>
      <p:sp>
        <p:nvSpPr>
          <p:cNvPr id="161" name="Google Shape;161;p10"/>
          <p:cNvSpPr/>
          <p:nvPr/>
        </p:nvSpPr>
        <p:spPr>
          <a:xfrm>
            <a:off x="457200" y="411480"/>
            <a:ext cx="658368" cy="65836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0"/>
          <p:cNvSpPr txBox="1"/>
          <p:nvPr/>
        </p:nvSpPr>
        <p:spPr>
          <a:xfrm>
            <a:off x="45720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2.6</a:t>
            </a:r>
            <a:endParaRPr b="0" i="0" sz="1500" u="none" cap="none" strike="noStrike">
              <a:solidFill>
                <a:schemeClr val="dk1"/>
              </a:solidFill>
              <a:latin typeface="Calibri"/>
              <a:ea typeface="Calibri"/>
              <a:cs typeface="Calibri"/>
              <a:sym typeface="Calibri"/>
            </a:endParaRPr>
          </a:p>
        </p:txBody>
      </p:sp>
      <p:sp>
        <p:nvSpPr>
          <p:cNvPr id="163" name="Google Shape;163;p10"/>
          <p:cNvSpPr txBox="1"/>
          <p:nvPr/>
        </p:nvSpPr>
        <p:spPr>
          <a:xfrm>
            <a:off x="1344168" y="384048"/>
            <a:ext cx="10390327" cy="2743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CRITERIO 2.6 — PARTE 1 DE 2</a:t>
            </a:r>
            <a:endParaRPr b="0" i="0" sz="1200" u="none" cap="none" strike="noStrike">
              <a:solidFill>
                <a:schemeClr val="dk1"/>
              </a:solidFill>
              <a:latin typeface="Calibri"/>
              <a:ea typeface="Calibri"/>
              <a:cs typeface="Calibri"/>
              <a:sym typeface="Calibri"/>
            </a:endParaRPr>
          </a:p>
        </p:txBody>
      </p:sp>
      <p:sp>
        <p:nvSpPr>
          <p:cNvPr id="164" name="Google Shape;164;p10"/>
          <p:cNvSpPr txBox="1"/>
          <p:nvPr/>
        </p:nvSpPr>
        <p:spPr>
          <a:xfrm>
            <a:off x="1344168" y="621792"/>
            <a:ext cx="10390327"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F3C7E"/>
              </a:buClr>
              <a:buSzPts val="2600"/>
              <a:buFont typeface="Cambria"/>
              <a:buNone/>
            </a:pPr>
            <a:r>
              <a:rPr b="1" i="0" lang="en-US" sz="2600" u="none" cap="none" strike="noStrike">
                <a:solidFill>
                  <a:srgbClr val="2F3C7E"/>
                </a:solidFill>
                <a:latin typeface="Cambria"/>
                <a:ea typeface="Cambria"/>
                <a:cs typeface="Cambria"/>
                <a:sym typeface="Cambria"/>
              </a:rPr>
              <a:t>Heurísticas aplicadas</a:t>
            </a:r>
            <a:endParaRPr b="0" i="0" sz="2600" u="none" cap="none" strike="noStrike">
              <a:solidFill>
                <a:schemeClr val="dk1"/>
              </a:solidFill>
              <a:latin typeface="Calibri"/>
              <a:ea typeface="Calibri"/>
              <a:cs typeface="Calibri"/>
              <a:sym typeface="Calibri"/>
            </a:endParaRPr>
          </a:p>
        </p:txBody>
      </p:sp>
      <p:graphicFrame>
        <p:nvGraphicFramePr>
          <p:cNvPr id="165" name="Google Shape;165;p10"/>
          <p:cNvGraphicFramePr/>
          <p:nvPr/>
        </p:nvGraphicFramePr>
        <p:xfrm>
          <a:off x="457200" y="1463040"/>
          <a:ext cx="3000000" cy="3000000"/>
        </p:xfrm>
        <a:graphic>
          <a:graphicData uri="http://schemas.openxmlformats.org/drawingml/2006/table">
            <a:tbl>
              <a:tblPr>
                <a:noFill/>
                <a:tableStyleId>{E20EDB0A-AE5B-4DA6-B2E4-3D6F3A460D80}</a:tableStyleId>
              </a:tblPr>
              <a:tblGrid>
                <a:gridCol w="2926075"/>
                <a:gridCol w="8351225"/>
              </a:tblGrid>
              <a:tr h="77725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Heurística</a:t>
                      </a:r>
                      <a:endParaRPr sz="130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2F3C7E"/>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Hallazgo del benchmarking</a:t>
                      </a:r>
                      <a:endParaRPr sz="130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2F3C7E"/>
                    </a:solidFill>
                  </a:tcPr>
                </a:tc>
              </a:tr>
              <a:tr h="777250">
                <a:tc>
                  <a:txBody>
                    <a:bodyPr/>
                    <a:lstStyle/>
                    <a:p>
                      <a:pPr indent="0" lvl="0" marL="0" marR="0" rtl="0" algn="l">
                        <a:spcBef>
                          <a:spcPts val="0"/>
                        </a:spcBef>
                        <a:spcAft>
                          <a:spcPts val="0"/>
                        </a:spcAft>
                        <a:buClr>
                          <a:srgbClr val="2F3C7E"/>
                        </a:buClr>
                        <a:buSzPts val="1250"/>
                        <a:buFont typeface="Calibri"/>
                        <a:buNone/>
                      </a:pPr>
                      <a:r>
                        <a:rPr b="1" lang="en-US" sz="1250" u="none" cap="none" strike="noStrike">
                          <a:solidFill>
                            <a:srgbClr val="2F3C7E"/>
                          </a:solidFill>
                          <a:latin typeface="Calibri"/>
                          <a:ea typeface="Calibri"/>
                          <a:cs typeface="Calibri"/>
                          <a:sym typeface="Calibri"/>
                        </a:rPr>
                        <a:t>Feedback</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62B"/>
                        </a:buClr>
                        <a:buSzPts val="1250"/>
                        <a:buFont typeface="Calibri"/>
                        <a:buNone/>
                      </a:pPr>
                      <a:r>
                        <a:rPr lang="en-US" sz="1250" u="none" cap="none" strike="noStrike">
                          <a:solidFill>
                            <a:srgbClr val="23262B"/>
                          </a:solidFill>
                          <a:latin typeface="Calibri"/>
                          <a:ea typeface="Calibri"/>
                          <a:cs typeface="Calibri"/>
                          <a:sym typeface="Calibri"/>
                        </a:rPr>
                        <a:t>Indeed muestra una barra de progreso durante la postulación. Bumeran confirma el éxito y sugiere el paso siguiente (ej.: completar el CV).</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r>
              <a:tr h="777250">
                <a:tc>
                  <a:txBody>
                    <a:bodyPr/>
                    <a:lstStyle/>
                    <a:p>
                      <a:pPr indent="0" lvl="0" marL="0" marR="0" rtl="0" algn="l">
                        <a:spcBef>
                          <a:spcPts val="0"/>
                        </a:spcBef>
                        <a:spcAft>
                          <a:spcPts val="0"/>
                        </a:spcAft>
                        <a:buClr>
                          <a:srgbClr val="2F3C7E"/>
                        </a:buClr>
                        <a:buSzPts val="1250"/>
                        <a:buFont typeface="Calibri"/>
                        <a:buNone/>
                      </a:pPr>
                      <a:r>
                        <a:rPr b="1" lang="en-US" sz="1250" u="none" cap="none" strike="noStrike">
                          <a:solidFill>
                            <a:srgbClr val="2F3C7E"/>
                          </a:solidFill>
                          <a:latin typeface="Calibri"/>
                          <a:ea typeface="Calibri"/>
                          <a:cs typeface="Calibri"/>
                          <a:sym typeface="Calibri"/>
                        </a:rPr>
                        <a:t>Sistema y mundo real</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c>
                  <a:txBody>
                    <a:bodyPr/>
                    <a:lstStyle/>
                    <a:p>
                      <a:pPr indent="0" lvl="0" marL="0" marR="0" rtl="0" algn="l">
                        <a:spcBef>
                          <a:spcPts val="0"/>
                        </a:spcBef>
                        <a:spcAft>
                          <a:spcPts val="0"/>
                        </a:spcAft>
                        <a:buClr>
                          <a:srgbClr val="23262B"/>
                        </a:buClr>
                        <a:buSzPts val="1250"/>
                        <a:buFont typeface="Calibri"/>
                        <a:buNone/>
                      </a:pPr>
                      <a:r>
                        <a:rPr lang="en-US" sz="1250" u="none" cap="none" strike="noStrike">
                          <a:solidFill>
                            <a:srgbClr val="23262B"/>
                          </a:solidFill>
                          <a:latin typeface="Calibri"/>
                          <a:ea typeface="Calibri"/>
                          <a:cs typeface="Calibri"/>
                          <a:sym typeface="Calibri"/>
                        </a:rPr>
                        <a:t>Vocabulario claro en ambas; solo aparece la jerga estándar del rubro (full-time, part-time, skill).</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r>
              <a:tr h="777250">
                <a:tc>
                  <a:txBody>
                    <a:bodyPr/>
                    <a:lstStyle/>
                    <a:p>
                      <a:pPr indent="0" lvl="0" marL="0" marR="0" rtl="0" algn="l">
                        <a:spcBef>
                          <a:spcPts val="0"/>
                        </a:spcBef>
                        <a:spcAft>
                          <a:spcPts val="0"/>
                        </a:spcAft>
                        <a:buClr>
                          <a:srgbClr val="2F3C7E"/>
                        </a:buClr>
                        <a:buSzPts val="1250"/>
                        <a:buFont typeface="Calibri"/>
                        <a:buNone/>
                      </a:pPr>
                      <a:r>
                        <a:rPr b="1" lang="en-US" sz="1250" u="none" cap="none" strike="noStrike">
                          <a:solidFill>
                            <a:srgbClr val="2F3C7E"/>
                          </a:solidFill>
                          <a:latin typeface="Calibri"/>
                          <a:ea typeface="Calibri"/>
                          <a:cs typeface="Calibri"/>
                          <a:sym typeface="Calibri"/>
                        </a:rPr>
                        <a:t>Consistencia y estándares</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62B"/>
                        </a:buClr>
                        <a:buSzPts val="1250"/>
                        <a:buFont typeface="Calibri"/>
                        <a:buNone/>
                      </a:pPr>
                      <a:r>
                        <a:rPr lang="en-US" sz="1250" u="none" cap="none" strike="noStrike">
                          <a:solidFill>
                            <a:srgbClr val="23262B"/>
                          </a:solidFill>
                          <a:latin typeface="Calibri"/>
                          <a:ea typeface="Calibri"/>
                          <a:cs typeface="Calibri"/>
                          <a:sym typeface="Calibri"/>
                        </a:rPr>
                        <a:t>Ambas respetan el vocabulario propio de la búsqueda laboral, sin contradicciones internas.</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r>
              <a:tr h="777250">
                <a:tc>
                  <a:txBody>
                    <a:bodyPr/>
                    <a:lstStyle/>
                    <a:p>
                      <a:pPr indent="0" lvl="0" marL="0" marR="0" rtl="0" algn="l">
                        <a:spcBef>
                          <a:spcPts val="0"/>
                        </a:spcBef>
                        <a:spcAft>
                          <a:spcPts val="0"/>
                        </a:spcAft>
                        <a:buClr>
                          <a:srgbClr val="2F3C7E"/>
                        </a:buClr>
                        <a:buSzPts val="1250"/>
                        <a:buFont typeface="Calibri"/>
                        <a:buNone/>
                      </a:pPr>
                      <a:r>
                        <a:rPr b="1" lang="en-US" sz="1250" u="none" cap="none" strike="noStrike">
                          <a:solidFill>
                            <a:srgbClr val="2F3C7E"/>
                          </a:solidFill>
                          <a:latin typeface="Calibri"/>
                          <a:ea typeface="Calibri"/>
                          <a:cs typeface="Calibri"/>
                          <a:sym typeface="Calibri"/>
                        </a:rPr>
                        <a:t>Prevención de errores</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c>
                  <a:txBody>
                    <a:bodyPr/>
                    <a:lstStyle/>
                    <a:p>
                      <a:pPr indent="0" lvl="0" marL="0" marR="0" rtl="0" algn="l">
                        <a:spcBef>
                          <a:spcPts val="0"/>
                        </a:spcBef>
                        <a:spcAft>
                          <a:spcPts val="0"/>
                        </a:spcAft>
                        <a:buClr>
                          <a:srgbClr val="23262B"/>
                        </a:buClr>
                        <a:buSzPts val="1250"/>
                        <a:buFont typeface="Calibri"/>
                        <a:buNone/>
                      </a:pPr>
                      <a:r>
                        <a:rPr lang="en-US" sz="1250" u="none" cap="none" strike="noStrike">
                          <a:solidFill>
                            <a:srgbClr val="23262B"/>
                          </a:solidFill>
                          <a:latin typeface="Calibri"/>
                          <a:ea typeface="Calibri"/>
                          <a:cs typeface="Calibri"/>
                          <a:sym typeface="Calibri"/>
                        </a:rPr>
                        <a:t>No se detectaron errores destacables durante el análisis de ninguna de las dos plataformas.</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r>
              <a:tr h="777250">
                <a:tc>
                  <a:txBody>
                    <a:bodyPr/>
                    <a:lstStyle/>
                    <a:p>
                      <a:pPr indent="0" lvl="0" marL="0" marR="0" rtl="0" algn="l">
                        <a:spcBef>
                          <a:spcPts val="0"/>
                        </a:spcBef>
                        <a:spcAft>
                          <a:spcPts val="0"/>
                        </a:spcAft>
                        <a:buClr>
                          <a:srgbClr val="2F3C7E"/>
                        </a:buClr>
                        <a:buSzPts val="1250"/>
                        <a:buFont typeface="Calibri"/>
                        <a:buNone/>
                      </a:pPr>
                      <a:r>
                        <a:rPr b="1" lang="en-US" sz="1250" u="none" cap="none" strike="noStrike">
                          <a:solidFill>
                            <a:srgbClr val="2F3C7E"/>
                          </a:solidFill>
                          <a:latin typeface="Calibri"/>
                          <a:ea typeface="Calibri"/>
                          <a:cs typeface="Calibri"/>
                          <a:sym typeface="Calibri"/>
                        </a:rPr>
                        <a:t>Reconocer antes que recordar</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62B"/>
                        </a:buClr>
                        <a:buSzPts val="1250"/>
                        <a:buFont typeface="Calibri"/>
                        <a:buNone/>
                      </a:pPr>
                      <a:r>
                        <a:rPr lang="en-US" sz="1250" u="none" cap="none" strike="noStrike">
                          <a:solidFill>
                            <a:srgbClr val="23262B"/>
                          </a:solidFill>
                          <a:latin typeface="Calibri"/>
                          <a:ea typeface="Calibri"/>
                          <a:cs typeface="Calibri"/>
                          <a:sym typeface="Calibri"/>
                        </a:rPr>
                        <a:t>Ambas usan iconos en filtros y características. Bumeran usa más iconos; Indeed logra menor carga visual.</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r>
            </a:tbl>
          </a:graphicData>
        </a:graphic>
      </p:graphicFrame>
      <p:sp>
        <p:nvSpPr>
          <p:cNvPr id="166" name="Google Shape;166;p10"/>
          <p:cNvSpPr txBox="1"/>
          <p:nvPr/>
        </p:nvSpPr>
        <p:spPr>
          <a:xfrm>
            <a:off x="457200" y="6510528"/>
            <a:ext cx="1127729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TP Integrador — Diseño y Maquetado Web  |  Etapa 1: Benchmarking  |  Lazzatti, Guerra y Regidor</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1" name="Shape 171"/>
        <p:cNvGrpSpPr/>
        <p:nvPr/>
      </p:nvGrpSpPr>
      <p:grpSpPr>
        <a:xfrm>
          <a:off x="0" y="0"/>
          <a:ext cx="0" cy="0"/>
          <a:chOff x="0" y="0"/>
          <a:chExt cx="0" cy="0"/>
        </a:xfrm>
      </p:grpSpPr>
      <p:sp>
        <p:nvSpPr>
          <p:cNvPr id="172" name="Google Shape;172;p11"/>
          <p:cNvSpPr/>
          <p:nvPr/>
        </p:nvSpPr>
        <p:spPr>
          <a:xfrm>
            <a:off x="457200" y="411480"/>
            <a:ext cx="658368" cy="65836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txBox="1"/>
          <p:nvPr/>
        </p:nvSpPr>
        <p:spPr>
          <a:xfrm>
            <a:off x="45720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2.6</a:t>
            </a:r>
            <a:endParaRPr b="0" i="0" sz="1500" u="none" cap="none" strike="noStrike">
              <a:solidFill>
                <a:schemeClr val="dk1"/>
              </a:solidFill>
              <a:latin typeface="Calibri"/>
              <a:ea typeface="Calibri"/>
              <a:cs typeface="Calibri"/>
              <a:sym typeface="Calibri"/>
            </a:endParaRPr>
          </a:p>
        </p:txBody>
      </p:sp>
      <p:sp>
        <p:nvSpPr>
          <p:cNvPr id="174" name="Google Shape;174;p11"/>
          <p:cNvSpPr txBox="1"/>
          <p:nvPr/>
        </p:nvSpPr>
        <p:spPr>
          <a:xfrm>
            <a:off x="1344168" y="384048"/>
            <a:ext cx="10390327" cy="2743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CRITERIO 2.6 — PARTE 2 DE 2</a:t>
            </a:r>
            <a:endParaRPr b="0" i="0" sz="1200" u="none" cap="none" strike="noStrike">
              <a:solidFill>
                <a:schemeClr val="dk1"/>
              </a:solidFill>
              <a:latin typeface="Calibri"/>
              <a:ea typeface="Calibri"/>
              <a:cs typeface="Calibri"/>
              <a:sym typeface="Calibri"/>
            </a:endParaRPr>
          </a:p>
        </p:txBody>
      </p:sp>
      <p:sp>
        <p:nvSpPr>
          <p:cNvPr id="175" name="Google Shape;175;p11"/>
          <p:cNvSpPr txBox="1"/>
          <p:nvPr/>
        </p:nvSpPr>
        <p:spPr>
          <a:xfrm>
            <a:off x="1344168" y="621792"/>
            <a:ext cx="10390327"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F3C7E"/>
              </a:buClr>
              <a:buSzPts val="2600"/>
              <a:buFont typeface="Cambria"/>
              <a:buNone/>
            </a:pPr>
            <a:r>
              <a:rPr b="1" i="0" lang="en-US" sz="2600" u="none" cap="none" strike="noStrike">
                <a:solidFill>
                  <a:srgbClr val="2F3C7E"/>
                </a:solidFill>
                <a:latin typeface="Cambria"/>
                <a:ea typeface="Cambria"/>
                <a:cs typeface="Cambria"/>
                <a:sym typeface="Cambria"/>
              </a:rPr>
              <a:t>Heurísticas aplicadas</a:t>
            </a:r>
            <a:endParaRPr b="0" i="0" sz="2600" u="none" cap="none" strike="noStrike">
              <a:solidFill>
                <a:schemeClr val="dk1"/>
              </a:solidFill>
              <a:latin typeface="Calibri"/>
              <a:ea typeface="Calibri"/>
              <a:cs typeface="Calibri"/>
              <a:sym typeface="Calibri"/>
            </a:endParaRPr>
          </a:p>
        </p:txBody>
      </p:sp>
      <p:graphicFrame>
        <p:nvGraphicFramePr>
          <p:cNvPr id="176" name="Google Shape;176;p11"/>
          <p:cNvGraphicFramePr/>
          <p:nvPr/>
        </p:nvGraphicFramePr>
        <p:xfrm>
          <a:off x="457200" y="1600200"/>
          <a:ext cx="3000000" cy="3000000"/>
        </p:xfrm>
        <a:graphic>
          <a:graphicData uri="http://schemas.openxmlformats.org/drawingml/2006/table">
            <a:tbl>
              <a:tblPr>
                <a:noFill/>
                <a:tableStyleId>{E20EDB0A-AE5B-4DA6-B2E4-3D6F3A460D80}</a:tableStyleId>
              </a:tblPr>
              <a:tblGrid>
                <a:gridCol w="2926075"/>
                <a:gridCol w="8351225"/>
              </a:tblGrid>
              <a:tr h="868675">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Heurística</a:t>
                      </a:r>
                      <a:endParaRPr sz="130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2F3C7E"/>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Hallazgo del benchmarking</a:t>
                      </a:r>
                      <a:endParaRPr sz="130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2F3C7E"/>
                    </a:solidFill>
                  </a:tcPr>
                </a:tc>
              </a:tr>
              <a:tr h="868675">
                <a:tc>
                  <a:txBody>
                    <a:bodyPr/>
                    <a:lstStyle/>
                    <a:p>
                      <a:pPr indent="0" lvl="0" marL="0" marR="0" rtl="0" algn="l">
                        <a:spcBef>
                          <a:spcPts val="0"/>
                        </a:spcBef>
                        <a:spcAft>
                          <a:spcPts val="0"/>
                        </a:spcAft>
                        <a:buClr>
                          <a:srgbClr val="2F3C7E"/>
                        </a:buClr>
                        <a:buSzPts val="1250"/>
                        <a:buFont typeface="Calibri"/>
                        <a:buNone/>
                      </a:pPr>
                      <a:r>
                        <a:rPr b="1" lang="en-US" sz="1250" u="none" cap="none" strike="noStrike">
                          <a:solidFill>
                            <a:srgbClr val="2F3C7E"/>
                          </a:solidFill>
                          <a:latin typeface="Calibri"/>
                          <a:ea typeface="Calibri"/>
                          <a:cs typeface="Calibri"/>
                          <a:sym typeface="Calibri"/>
                        </a:rPr>
                        <a:t>Flexibilidad y eficiencia de uso</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62B"/>
                        </a:buClr>
                        <a:buSzPts val="1250"/>
                        <a:buFont typeface="Calibri"/>
                        <a:buNone/>
                      </a:pPr>
                      <a:r>
                        <a:rPr lang="en-US" sz="1250" u="none" cap="none" strike="noStrike">
                          <a:solidFill>
                            <a:srgbClr val="23262B"/>
                          </a:solidFill>
                          <a:latin typeface="Calibri"/>
                          <a:ea typeface="Calibri"/>
                          <a:cs typeface="Calibri"/>
                          <a:sym typeface="Calibri"/>
                        </a:rPr>
                        <a:t>Baja complejidad en ambas. Bumeran abre una vista nueva al ver el detalle; Indeed no recarga la página.</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r>
              <a:tr h="868675">
                <a:tc>
                  <a:txBody>
                    <a:bodyPr/>
                    <a:lstStyle/>
                    <a:p>
                      <a:pPr indent="0" lvl="0" marL="0" marR="0" rtl="0" algn="l">
                        <a:spcBef>
                          <a:spcPts val="0"/>
                        </a:spcBef>
                        <a:spcAft>
                          <a:spcPts val="0"/>
                        </a:spcAft>
                        <a:buClr>
                          <a:srgbClr val="2F3C7E"/>
                        </a:buClr>
                        <a:buSzPts val="1250"/>
                        <a:buFont typeface="Calibri"/>
                        <a:buNone/>
                      </a:pPr>
                      <a:r>
                        <a:rPr b="1" lang="en-US" sz="1250" u="none" cap="none" strike="noStrike">
                          <a:solidFill>
                            <a:srgbClr val="2F3C7E"/>
                          </a:solidFill>
                          <a:latin typeface="Calibri"/>
                          <a:ea typeface="Calibri"/>
                          <a:cs typeface="Calibri"/>
                          <a:sym typeface="Calibri"/>
                        </a:rPr>
                        <a:t>Estética y diseño minimalista</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c>
                  <a:txBody>
                    <a:bodyPr/>
                    <a:lstStyle/>
                    <a:p>
                      <a:pPr indent="0" lvl="0" marL="0" marR="0" rtl="0" algn="l">
                        <a:spcBef>
                          <a:spcPts val="0"/>
                        </a:spcBef>
                        <a:spcAft>
                          <a:spcPts val="0"/>
                        </a:spcAft>
                        <a:buClr>
                          <a:srgbClr val="23262B"/>
                        </a:buClr>
                        <a:buSzPts val="1250"/>
                        <a:buFont typeface="Calibri"/>
                        <a:buNone/>
                      </a:pPr>
                      <a:r>
                        <a:rPr lang="en-US" sz="1250" u="none" cap="none" strike="noStrike">
                          <a:solidFill>
                            <a:srgbClr val="23262B"/>
                          </a:solidFill>
                          <a:latin typeface="Calibri"/>
                          <a:ea typeface="Calibri"/>
                          <a:cs typeface="Calibri"/>
                          <a:sym typeface="Calibri"/>
                        </a:rPr>
                        <a:t>Indeed genera menos ruido cognitivo al no dispersar imágenes ni logos de empresas por la página.</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r>
              <a:tr h="868675">
                <a:tc>
                  <a:txBody>
                    <a:bodyPr/>
                    <a:lstStyle/>
                    <a:p>
                      <a:pPr indent="0" lvl="0" marL="0" marR="0" rtl="0" algn="l">
                        <a:spcBef>
                          <a:spcPts val="0"/>
                        </a:spcBef>
                        <a:spcAft>
                          <a:spcPts val="0"/>
                        </a:spcAft>
                        <a:buClr>
                          <a:srgbClr val="2F3C7E"/>
                        </a:buClr>
                        <a:buSzPts val="1250"/>
                        <a:buFont typeface="Calibri"/>
                        <a:buNone/>
                      </a:pPr>
                      <a:r>
                        <a:rPr b="1" lang="en-US" sz="1250" u="none" cap="none" strike="noStrike">
                          <a:solidFill>
                            <a:srgbClr val="2F3C7E"/>
                          </a:solidFill>
                          <a:latin typeface="Calibri"/>
                          <a:ea typeface="Calibri"/>
                          <a:cs typeface="Calibri"/>
                          <a:sym typeface="Calibri"/>
                        </a:rPr>
                        <a:t>Diagnóstico y recuperación de errores</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62B"/>
                        </a:buClr>
                        <a:buSzPts val="1250"/>
                        <a:buFont typeface="Calibri"/>
                        <a:buNone/>
                      </a:pPr>
                      <a:r>
                        <a:rPr lang="en-US" sz="1250" u="none" cap="none" strike="noStrike">
                          <a:solidFill>
                            <a:srgbClr val="23262B"/>
                          </a:solidFill>
                          <a:latin typeface="Calibri"/>
                          <a:ea typeface="Calibri"/>
                          <a:cs typeface="Calibri"/>
                          <a:sym typeface="Calibri"/>
                        </a:rPr>
                        <a:t>Ante falta de conexión a internet, ninguna de las dos muestra un mensaje al usuario.</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r>
              <a:tr h="868675">
                <a:tc>
                  <a:txBody>
                    <a:bodyPr/>
                    <a:lstStyle/>
                    <a:p>
                      <a:pPr indent="0" lvl="0" marL="0" marR="0" rtl="0" algn="l">
                        <a:spcBef>
                          <a:spcPts val="0"/>
                        </a:spcBef>
                        <a:spcAft>
                          <a:spcPts val="0"/>
                        </a:spcAft>
                        <a:buClr>
                          <a:srgbClr val="2F3C7E"/>
                        </a:buClr>
                        <a:buSzPts val="1250"/>
                        <a:buFont typeface="Calibri"/>
                        <a:buNone/>
                      </a:pPr>
                      <a:r>
                        <a:rPr b="1" lang="en-US" sz="1250" u="none" cap="none" strike="noStrike">
                          <a:solidFill>
                            <a:srgbClr val="2F3C7E"/>
                          </a:solidFill>
                          <a:latin typeface="Calibri"/>
                          <a:ea typeface="Calibri"/>
                          <a:cs typeface="Calibri"/>
                          <a:sym typeface="Calibri"/>
                        </a:rPr>
                        <a:t>Ayuda y documentación</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c>
                  <a:txBody>
                    <a:bodyPr/>
                    <a:lstStyle/>
                    <a:p>
                      <a:pPr indent="0" lvl="0" marL="0" marR="0" rtl="0" algn="l">
                        <a:spcBef>
                          <a:spcPts val="0"/>
                        </a:spcBef>
                        <a:spcAft>
                          <a:spcPts val="0"/>
                        </a:spcAft>
                        <a:buClr>
                          <a:srgbClr val="23262B"/>
                        </a:buClr>
                        <a:buSzPts val="1250"/>
                        <a:buFont typeface="Calibri"/>
                        <a:buNone/>
                      </a:pPr>
                      <a:r>
                        <a:rPr lang="en-US" sz="1250" u="none" cap="none" strike="noStrike">
                          <a:solidFill>
                            <a:srgbClr val="23262B"/>
                          </a:solidFill>
                          <a:latin typeface="Calibri"/>
                          <a:ea typeface="Calibri"/>
                          <a:cs typeface="Calibri"/>
                          <a:sym typeface="Calibri"/>
                        </a:rPr>
                        <a:t>Indeed: buscador con filtros, tutoriales y guías detalladas. Bumeran: un solo link a preguntas frecuentes en el pie de página.</a:t>
                      </a:r>
                      <a:endParaRPr sz="1250" u="none" cap="none" strike="noStrike">
                        <a:latin typeface="Calibri"/>
                        <a:ea typeface="Calibri"/>
                        <a:cs typeface="Calibri"/>
                        <a:sym typeface="Calibri"/>
                      </a:endParaRPr>
                    </a:p>
                  </a:txBody>
                  <a:tcPr marT="101600" marB="101600" marR="152400" marL="1524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r>
            </a:tbl>
          </a:graphicData>
        </a:graphic>
      </p:graphicFrame>
      <p:sp>
        <p:nvSpPr>
          <p:cNvPr id="177" name="Google Shape;177;p11"/>
          <p:cNvSpPr txBox="1"/>
          <p:nvPr/>
        </p:nvSpPr>
        <p:spPr>
          <a:xfrm>
            <a:off x="457200" y="6510528"/>
            <a:ext cx="1127729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TP Integrador — Diseño y Maquetado Web  |  Etapa 1: Benchmarking  |  Lazzatti, Guerra y Regidor</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2" name="Shape 182"/>
        <p:cNvGrpSpPr/>
        <p:nvPr/>
      </p:nvGrpSpPr>
      <p:grpSpPr>
        <a:xfrm>
          <a:off x="0" y="0"/>
          <a:ext cx="0" cy="0"/>
          <a:chOff x="0" y="0"/>
          <a:chExt cx="0" cy="0"/>
        </a:xfrm>
      </p:grpSpPr>
      <p:sp>
        <p:nvSpPr>
          <p:cNvPr id="183" name="Google Shape;183;p12"/>
          <p:cNvSpPr/>
          <p:nvPr/>
        </p:nvSpPr>
        <p:spPr>
          <a:xfrm>
            <a:off x="457200" y="411480"/>
            <a:ext cx="658368" cy="65836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2"/>
          <p:cNvSpPr txBox="1"/>
          <p:nvPr/>
        </p:nvSpPr>
        <p:spPr>
          <a:xfrm>
            <a:off x="45720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2.7</a:t>
            </a:r>
            <a:endParaRPr b="0" i="0" sz="1500" u="none" cap="none" strike="noStrike">
              <a:solidFill>
                <a:schemeClr val="dk1"/>
              </a:solidFill>
              <a:latin typeface="Calibri"/>
              <a:ea typeface="Calibri"/>
              <a:cs typeface="Calibri"/>
              <a:sym typeface="Calibri"/>
            </a:endParaRPr>
          </a:p>
        </p:txBody>
      </p:sp>
      <p:sp>
        <p:nvSpPr>
          <p:cNvPr id="185" name="Google Shape;185;p12"/>
          <p:cNvSpPr txBox="1"/>
          <p:nvPr/>
        </p:nvSpPr>
        <p:spPr>
          <a:xfrm>
            <a:off x="1344168" y="384048"/>
            <a:ext cx="10390327" cy="2743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CRITERIO 2.7</a:t>
            </a:r>
            <a:endParaRPr b="0" i="0" sz="1200" u="none" cap="none" strike="noStrike">
              <a:solidFill>
                <a:schemeClr val="dk1"/>
              </a:solidFill>
              <a:latin typeface="Calibri"/>
              <a:ea typeface="Calibri"/>
              <a:cs typeface="Calibri"/>
              <a:sym typeface="Calibri"/>
            </a:endParaRPr>
          </a:p>
        </p:txBody>
      </p:sp>
      <p:sp>
        <p:nvSpPr>
          <p:cNvPr id="186" name="Google Shape;186;p12"/>
          <p:cNvSpPr txBox="1"/>
          <p:nvPr/>
        </p:nvSpPr>
        <p:spPr>
          <a:xfrm>
            <a:off x="1344168" y="621792"/>
            <a:ext cx="10390327"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F3C7E"/>
              </a:buClr>
              <a:buSzPts val="2600"/>
              <a:buFont typeface="Cambria"/>
              <a:buNone/>
            </a:pPr>
            <a:r>
              <a:rPr b="1" i="0" lang="en-US" sz="2600" u="none" cap="none" strike="noStrike">
                <a:solidFill>
                  <a:srgbClr val="2F3C7E"/>
                </a:solidFill>
                <a:latin typeface="Cambria"/>
                <a:ea typeface="Cambria"/>
                <a:cs typeface="Cambria"/>
                <a:sym typeface="Cambria"/>
              </a:rPr>
              <a:t>Patrones de navegación e interacción</a:t>
            </a:r>
            <a:endParaRPr b="0" i="0" sz="2600" u="none" cap="none" strike="noStrike">
              <a:solidFill>
                <a:schemeClr val="dk1"/>
              </a:solidFill>
              <a:latin typeface="Calibri"/>
              <a:ea typeface="Calibri"/>
              <a:cs typeface="Calibri"/>
              <a:sym typeface="Calibri"/>
            </a:endParaRPr>
          </a:p>
        </p:txBody>
      </p:sp>
      <p:sp>
        <p:nvSpPr>
          <p:cNvPr id="187" name="Google Shape;187;p12"/>
          <p:cNvSpPr/>
          <p:nvPr/>
        </p:nvSpPr>
        <p:spPr>
          <a:xfrm>
            <a:off x="1196310" y="1828800"/>
            <a:ext cx="777240" cy="777240"/>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2"/>
          <p:cNvSpPr txBox="1"/>
          <p:nvPr/>
        </p:nvSpPr>
        <p:spPr>
          <a:xfrm>
            <a:off x="1196310" y="182880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1</a:t>
            </a:r>
            <a:endParaRPr b="0" i="0" sz="2000" u="none" cap="none" strike="noStrike">
              <a:solidFill>
                <a:schemeClr val="dk1"/>
              </a:solidFill>
              <a:latin typeface="Calibri"/>
              <a:ea typeface="Calibri"/>
              <a:cs typeface="Calibri"/>
              <a:sym typeface="Calibri"/>
            </a:endParaRPr>
          </a:p>
        </p:txBody>
      </p:sp>
      <p:sp>
        <p:nvSpPr>
          <p:cNvPr id="189" name="Google Shape;189;p12"/>
          <p:cNvSpPr txBox="1"/>
          <p:nvPr/>
        </p:nvSpPr>
        <p:spPr>
          <a:xfrm>
            <a:off x="457200" y="2743200"/>
            <a:ext cx="2255459" cy="5486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Buscar</a:t>
            </a:r>
            <a:endParaRPr b="0" i="0" sz="1300" u="none" cap="none" strike="noStrike">
              <a:solidFill>
                <a:schemeClr val="dk1"/>
              </a:solidFill>
              <a:latin typeface="Calibri"/>
              <a:ea typeface="Calibri"/>
              <a:cs typeface="Calibri"/>
              <a:sym typeface="Calibri"/>
            </a:endParaRPr>
          </a:p>
        </p:txBody>
      </p:sp>
      <p:cxnSp>
        <p:nvCxnSpPr>
          <p:cNvPr id="190" name="Google Shape;190;p12"/>
          <p:cNvCxnSpPr/>
          <p:nvPr/>
        </p:nvCxnSpPr>
        <p:spPr>
          <a:xfrm>
            <a:off x="1973550" y="2217420"/>
            <a:ext cx="1478219" cy="0"/>
          </a:xfrm>
          <a:prstGeom prst="straightConnector1">
            <a:avLst/>
          </a:prstGeom>
          <a:noFill/>
          <a:ln cap="flat" cmpd="sng" w="25400">
            <a:solidFill>
              <a:srgbClr val="BEC6E0"/>
            </a:solidFill>
            <a:prstDash val="solid"/>
            <a:round/>
            <a:headEnd len="sm" w="sm" type="none"/>
            <a:tailEnd len="med" w="med" type="triangle"/>
          </a:ln>
        </p:spPr>
      </p:cxnSp>
      <p:sp>
        <p:nvSpPr>
          <p:cNvPr id="191" name="Google Shape;191;p12"/>
          <p:cNvSpPr/>
          <p:nvPr/>
        </p:nvSpPr>
        <p:spPr>
          <a:xfrm>
            <a:off x="3451769" y="1828800"/>
            <a:ext cx="777240" cy="777240"/>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2"/>
          <p:cNvSpPr txBox="1"/>
          <p:nvPr/>
        </p:nvSpPr>
        <p:spPr>
          <a:xfrm>
            <a:off x="3451769" y="182880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2</a:t>
            </a:r>
            <a:endParaRPr b="0" i="0" sz="2000" u="none" cap="none" strike="noStrike">
              <a:solidFill>
                <a:schemeClr val="dk1"/>
              </a:solidFill>
              <a:latin typeface="Calibri"/>
              <a:ea typeface="Calibri"/>
              <a:cs typeface="Calibri"/>
              <a:sym typeface="Calibri"/>
            </a:endParaRPr>
          </a:p>
        </p:txBody>
      </p:sp>
      <p:sp>
        <p:nvSpPr>
          <p:cNvPr id="193" name="Google Shape;193;p12"/>
          <p:cNvSpPr txBox="1"/>
          <p:nvPr/>
        </p:nvSpPr>
        <p:spPr>
          <a:xfrm>
            <a:off x="2712659" y="2743200"/>
            <a:ext cx="2255459" cy="5486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Filtrar</a:t>
            </a:r>
            <a:endParaRPr b="0" i="0" sz="1300" u="none" cap="none" strike="noStrike">
              <a:solidFill>
                <a:schemeClr val="dk1"/>
              </a:solidFill>
              <a:latin typeface="Calibri"/>
              <a:ea typeface="Calibri"/>
              <a:cs typeface="Calibri"/>
              <a:sym typeface="Calibri"/>
            </a:endParaRPr>
          </a:p>
        </p:txBody>
      </p:sp>
      <p:cxnSp>
        <p:nvCxnSpPr>
          <p:cNvPr id="194" name="Google Shape;194;p12"/>
          <p:cNvCxnSpPr/>
          <p:nvPr/>
        </p:nvCxnSpPr>
        <p:spPr>
          <a:xfrm>
            <a:off x="4229009" y="2217420"/>
            <a:ext cx="1478219" cy="0"/>
          </a:xfrm>
          <a:prstGeom prst="straightConnector1">
            <a:avLst/>
          </a:prstGeom>
          <a:noFill/>
          <a:ln cap="flat" cmpd="sng" w="25400">
            <a:solidFill>
              <a:srgbClr val="BEC6E0"/>
            </a:solidFill>
            <a:prstDash val="solid"/>
            <a:round/>
            <a:headEnd len="sm" w="sm" type="none"/>
            <a:tailEnd len="med" w="med" type="triangle"/>
          </a:ln>
        </p:spPr>
      </p:cxnSp>
      <p:sp>
        <p:nvSpPr>
          <p:cNvPr id="195" name="Google Shape;195;p12"/>
          <p:cNvSpPr/>
          <p:nvPr/>
        </p:nvSpPr>
        <p:spPr>
          <a:xfrm>
            <a:off x="5707228" y="1828800"/>
            <a:ext cx="777240" cy="777240"/>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2"/>
          <p:cNvSpPr txBox="1"/>
          <p:nvPr/>
        </p:nvSpPr>
        <p:spPr>
          <a:xfrm>
            <a:off x="5707228" y="182880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3</a:t>
            </a:r>
            <a:endParaRPr b="0" i="0" sz="2000" u="none" cap="none" strike="noStrike">
              <a:solidFill>
                <a:schemeClr val="dk1"/>
              </a:solidFill>
              <a:latin typeface="Calibri"/>
              <a:ea typeface="Calibri"/>
              <a:cs typeface="Calibri"/>
              <a:sym typeface="Calibri"/>
            </a:endParaRPr>
          </a:p>
        </p:txBody>
      </p:sp>
      <p:sp>
        <p:nvSpPr>
          <p:cNvPr id="197" name="Google Shape;197;p12"/>
          <p:cNvSpPr txBox="1"/>
          <p:nvPr/>
        </p:nvSpPr>
        <p:spPr>
          <a:xfrm>
            <a:off x="4968118" y="2743200"/>
            <a:ext cx="2255459" cy="5486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Listar</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ofertas</a:t>
            </a:r>
            <a:endParaRPr b="0" i="0" sz="1300" u="none" cap="none" strike="noStrike">
              <a:solidFill>
                <a:schemeClr val="dk1"/>
              </a:solidFill>
              <a:latin typeface="Calibri"/>
              <a:ea typeface="Calibri"/>
              <a:cs typeface="Calibri"/>
              <a:sym typeface="Calibri"/>
            </a:endParaRPr>
          </a:p>
        </p:txBody>
      </p:sp>
      <p:cxnSp>
        <p:nvCxnSpPr>
          <p:cNvPr id="198" name="Google Shape;198;p12"/>
          <p:cNvCxnSpPr/>
          <p:nvPr/>
        </p:nvCxnSpPr>
        <p:spPr>
          <a:xfrm>
            <a:off x="6484468" y="2217420"/>
            <a:ext cx="1478219" cy="0"/>
          </a:xfrm>
          <a:prstGeom prst="straightConnector1">
            <a:avLst/>
          </a:prstGeom>
          <a:noFill/>
          <a:ln cap="flat" cmpd="sng" w="25400">
            <a:solidFill>
              <a:srgbClr val="BEC6E0"/>
            </a:solidFill>
            <a:prstDash val="solid"/>
            <a:round/>
            <a:headEnd len="sm" w="sm" type="none"/>
            <a:tailEnd len="med" w="med" type="triangle"/>
          </a:ln>
        </p:spPr>
      </p:cxnSp>
      <p:sp>
        <p:nvSpPr>
          <p:cNvPr id="199" name="Google Shape;199;p12"/>
          <p:cNvSpPr/>
          <p:nvPr/>
        </p:nvSpPr>
        <p:spPr>
          <a:xfrm>
            <a:off x="7962687" y="1828800"/>
            <a:ext cx="777240" cy="777240"/>
          </a:xfrm>
          <a:prstGeom prst="ellipse">
            <a:avLst/>
          </a:prstGeom>
          <a:solidFill>
            <a:srgbClr val="F961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2"/>
          <p:cNvSpPr txBox="1"/>
          <p:nvPr/>
        </p:nvSpPr>
        <p:spPr>
          <a:xfrm>
            <a:off x="7962687" y="182880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4</a:t>
            </a:r>
            <a:endParaRPr b="0" i="0" sz="2000" u="none" cap="none" strike="noStrike">
              <a:solidFill>
                <a:schemeClr val="dk1"/>
              </a:solidFill>
              <a:latin typeface="Calibri"/>
              <a:ea typeface="Calibri"/>
              <a:cs typeface="Calibri"/>
              <a:sym typeface="Calibri"/>
            </a:endParaRPr>
          </a:p>
        </p:txBody>
      </p:sp>
      <p:sp>
        <p:nvSpPr>
          <p:cNvPr id="201" name="Google Shape;201;p12"/>
          <p:cNvSpPr txBox="1"/>
          <p:nvPr/>
        </p:nvSpPr>
        <p:spPr>
          <a:xfrm>
            <a:off x="7223577" y="2743200"/>
            <a:ext cx="2255459" cy="5486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Ver</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detalle</a:t>
            </a:r>
            <a:endParaRPr b="0" i="0" sz="1300" u="none" cap="none" strike="noStrike">
              <a:solidFill>
                <a:schemeClr val="dk1"/>
              </a:solidFill>
              <a:latin typeface="Calibri"/>
              <a:ea typeface="Calibri"/>
              <a:cs typeface="Calibri"/>
              <a:sym typeface="Calibri"/>
            </a:endParaRPr>
          </a:p>
        </p:txBody>
      </p:sp>
      <p:cxnSp>
        <p:nvCxnSpPr>
          <p:cNvPr id="202" name="Google Shape;202;p12"/>
          <p:cNvCxnSpPr/>
          <p:nvPr/>
        </p:nvCxnSpPr>
        <p:spPr>
          <a:xfrm>
            <a:off x="8739927" y="2217420"/>
            <a:ext cx="1478219" cy="0"/>
          </a:xfrm>
          <a:prstGeom prst="straightConnector1">
            <a:avLst/>
          </a:prstGeom>
          <a:noFill/>
          <a:ln cap="flat" cmpd="sng" w="25400">
            <a:solidFill>
              <a:srgbClr val="BEC6E0"/>
            </a:solidFill>
            <a:prstDash val="solid"/>
            <a:round/>
            <a:headEnd len="sm" w="sm" type="none"/>
            <a:tailEnd len="med" w="med" type="triangle"/>
          </a:ln>
        </p:spPr>
      </p:cxnSp>
      <p:sp>
        <p:nvSpPr>
          <p:cNvPr id="203" name="Google Shape;203;p12"/>
          <p:cNvSpPr/>
          <p:nvPr/>
        </p:nvSpPr>
        <p:spPr>
          <a:xfrm>
            <a:off x="10218146" y="1828800"/>
            <a:ext cx="777240" cy="777240"/>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2"/>
          <p:cNvSpPr txBox="1"/>
          <p:nvPr/>
        </p:nvSpPr>
        <p:spPr>
          <a:xfrm>
            <a:off x="10218146" y="182880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5</a:t>
            </a:r>
            <a:endParaRPr b="0" i="0" sz="2000" u="none" cap="none" strike="noStrike">
              <a:solidFill>
                <a:schemeClr val="dk1"/>
              </a:solidFill>
              <a:latin typeface="Calibri"/>
              <a:ea typeface="Calibri"/>
              <a:cs typeface="Calibri"/>
              <a:sym typeface="Calibri"/>
            </a:endParaRPr>
          </a:p>
        </p:txBody>
      </p:sp>
      <p:sp>
        <p:nvSpPr>
          <p:cNvPr id="205" name="Google Shape;205;p12"/>
          <p:cNvSpPr txBox="1"/>
          <p:nvPr/>
        </p:nvSpPr>
        <p:spPr>
          <a:xfrm>
            <a:off x="9479036" y="2743200"/>
            <a:ext cx="2255459" cy="54864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Postularse</a:t>
            </a:r>
            <a:endParaRPr b="0" i="0" sz="1300" u="none" cap="none" strike="noStrike">
              <a:solidFill>
                <a:schemeClr val="dk1"/>
              </a:solidFill>
              <a:latin typeface="Calibri"/>
              <a:ea typeface="Calibri"/>
              <a:cs typeface="Calibri"/>
              <a:sym typeface="Calibri"/>
            </a:endParaRPr>
          </a:p>
        </p:txBody>
      </p:sp>
      <p:sp>
        <p:nvSpPr>
          <p:cNvPr id="206" name="Google Shape;206;p12"/>
          <p:cNvSpPr/>
          <p:nvPr/>
        </p:nvSpPr>
        <p:spPr>
          <a:xfrm>
            <a:off x="457200" y="3840480"/>
            <a:ext cx="11277295" cy="2011680"/>
          </a:xfrm>
          <a:prstGeom prst="roundRect">
            <a:avLst>
              <a:gd fmla="val 6364" name="adj"/>
            </a:avLst>
          </a:prstGeom>
          <a:solidFill>
            <a:srgbClr val="EAEEF9"/>
          </a:solidFill>
          <a:ln>
            <a:noFill/>
          </a:ln>
          <a:effectLst>
            <a:outerShdw blurRad="101600" rotWithShape="0" algn="bl" dir="5400000" dist="38100">
              <a:srgbClr val="1A2140">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2"/>
          <p:cNvSpPr txBox="1"/>
          <p:nvPr/>
        </p:nvSpPr>
        <p:spPr>
          <a:xfrm>
            <a:off x="777240" y="4096512"/>
            <a:ext cx="10637215" cy="14996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F3C7E"/>
              </a:buClr>
              <a:buSzPts val="1400"/>
              <a:buFont typeface="Calibri"/>
              <a:buNone/>
            </a:pPr>
            <a:r>
              <a:rPr b="1" i="0" lang="en-US" sz="1400" u="none" cap="none" strike="noStrike">
                <a:solidFill>
                  <a:srgbClr val="2F3C7E"/>
                </a:solidFill>
                <a:latin typeface="Calibri"/>
                <a:ea typeface="Calibri"/>
                <a:cs typeface="Calibri"/>
                <a:sym typeface="Calibri"/>
              </a:rPr>
              <a:t>Funciones compartidas: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3262B"/>
              </a:buClr>
              <a:buSzPts val="1400"/>
              <a:buFont typeface="Calibri"/>
              <a:buNone/>
            </a:pPr>
            <a:r>
              <a:rPr b="0" i="0" lang="en-US" sz="1400" u="none" cap="none" strike="noStrike">
                <a:solidFill>
                  <a:srgbClr val="23262B"/>
                </a:solidFill>
                <a:latin typeface="Calibri"/>
                <a:ea typeface="Calibri"/>
                <a:cs typeface="Calibri"/>
                <a:sym typeface="Calibri"/>
              </a:rPr>
              <a:t>compartir ofertas, guardarlas en favoritos, ver el perfil de la empresa y aplicar más filtros.</a:t>
            </a:r>
            <a:endParaRPr b="0" i="0" sz="1400" u="none" cap="none" strike="noStrike">
              <a:solidFill>
                <a:schemeClr val="dk1"/>
              </a:solidFill>
              <a:latin typeface="Calibri"/>
              <a:ea typeface="Calibri"/>
              <a:cs typeface="Calibri"/>
              <a:sym typeface="Calibri"/>
            </a:endParaRPr>
          </a:p>
          <a:p>
            <a:pPr indent="0" lvl="0" marL="0" marR="0" rtl="0" algn="l">
              <a:spcBef>
                <a:spcPts val="1400"/>
              </a:spcBef>
              <a:spcAft>
                <a:spcPts val="0"/>
              </a:spcAft>
              <a:buClr>
                <a:srgbClr val="F96167"/>
              </a:buClr>
              <a:buSzPts val="1400"/>
              <a:buFont typeface="Calibri"/>
              <a:buNone/>
            </a:pPr>
            <a:r>
              <a:rPr b="1" i="0" lang="en-US" sz="1400" u="none" cap="none" strike="noStrike">
                <a:solidFill>
                  <a:srgbClr val="F96167"/>
                </a:solidFill>
                <a:latin typeface="Calibri"/>
                <a:ea typeface="Calibri"/>
                <a:cs typeface="Calibri"/>
                <a:sym typeface="Calibri"/>
              </a:rPr>
              <a:t>Diferencia clave: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3262B"/>
              </a:buClr>
              <a:buSzPts val="1400"/>
              <a:buFont typeface="Calibri"/>
              <a:buNone/>
            </a:pPr>
            <a:r>
              <a:rPr b="0" i="0" lang="en-US" sz="1400" u="none" cap="none" strike="noStrike">
                <a:solidFill>
                  <a:srgbClr val="23262B"/>
                </a:solidFill>
                <a:latin typeface="Calibri"/>
                <a:ea typeface="Calibri"/>
                <a:cs typeface="Calibri"/>
                <a:sym typeface="Calibri"/>
              </a:rPr>
              <a:t>en Bumeran, pasar de “Listar ofertas” a “Ver detalle” implica cambiar de vista; en Indeed, ocurre dentro de la misma pantalla.</a:t>
            </a:r>
            <a:endParaRPr b="0" i="0" sz="1400" u="none" cap="none" strike="noStrike">
              <a:solidFill>
                <a:schemeClr val="dk1"/>
              </a:solidFill>
              <a:latin typeface="Calibri"/>
              <a:ea typeface="Calibri"/>
              <a:cs typeface="Calibri"/>
              <a:sym typeface="Calibri"/>
            </a:endParaRPr>
          </a:p>
        </p:txBody>
      </p:sp>
      <p:sp>
        <p:nvSpPr>
          <p:cNvPr id="208" name="Google Shape;208;p12"/>
          <p:cNvSpPr txBox="1"/>
          <p:nvPr/>
        </p:nvSpPr>
        <p:spPr>
          <a:xfrm>
            <a:off x="457200" y="6510528"/>
            <a:ext cx="1127729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TP Integrador — Diseño y Maquetado Web  |  Etapa 1: Benchmarking  |  Lazzatti, Guerra y Regidor</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3" name="Shape 213"/>
        <p:cNvGrpSpPr/>
        <p:nvPr/>
      </p:nvGrpSpPr>
      <p:grpSpPr>
        <a:xfrm>
          <a:off x="0" y="0"/>
          <a:ext cx="0" cy="0"/>
          <a:chOff x="0" y="0"/>
          <a:chExt cx="0" cy="0"/>
        </a:xfrm>
      </p:grpSpPr>
      <p:sp>
        <p:nvSpPr>
          <p:cNvPr id="214" name="Google Shape;214;p13"/>
          <p:cNvSpPr txBox="1"/>
          <p:nvPr/>
        </p:nvSpPr>
        <p:spPr>
          <a:xfrm>
            <a:off x="457200" y="384048"/>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SÍNTESIS</a:t>
            </a:r>
            <a:endParaRPr b="0" i="0" sz="1200" u="none" cap="none" strike="noStrike">
              <a:solidFill>
                <a:schemeClr val="dk1"/>
              </a:solidFill>
              <a:latin typeface="Calibri"/>
              <a:ea typeface="Calibri"/>
              <a:cs typeface="Calibri"/>
              <a:sym typeface="Calibri"/>
            </a:endParaRPr>
          </a:p>
        </p:txBody>
      </p:sp>
      <p:sp>
        <p:nvSpPr>
          <p:cNvPr id="215" name="Google Shape;215;p13"/>
          <p:cNvSpPr txBox="1"/>
          <p:nvPr/>
        </p:nvSpPr>
        <p:spPr>
          <a:xfrm>
            <a:off x="457200" y="621792"/>
            <a:ext cx="11277295"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3C7E"/>
              </a:buClr>
              <a:buSzPts val="2600"/>
              <a:buFont typeface="Cambria"/>
              <a:buNone/>
            </a:pPr>
            <a:r>
              <a:rPr b="1" i="0" lang="en-US" sz="2600" u="none" cap="none" strike="noStrike">
                <a:solidFill>
                  <a:srgbClr val="2F3C7E"/>
                </a:solidFill>
                <a:latin typeface="Cambria"/>
                <a:ea typeface="Cambria"/>
                <a:cs typeface="Cambria"/>
                <a:sym typeface="Cambria"/>
              </a:rPr>
              <a:t>Síntesis comparativa</a:t>
            </a:r>
            <a:endParaRPr b="0" i="0" sz="2600" u="none" cap="none" strike="noStrike">
              <a:solidFill>
                <a:schemeClr val="dk1"/>
              </a:solidFill>
              <a:latin typeface="Calibri"/>
              <a:ea typeface="Calibri"/>
              <a:cs typeface="Calibri"/>
              <a:sym typeface="Calibri"/>
            </a:endParaRPr>
          </a:p>
        </p:txBody>
      </p:sp>
      <p:graphicFrame>
        <p:nvGraphicFramePr>
          <p:cNvPr id="216" name="Google Shape;216;p13"/>
          <p:cNvGraphicFramePr/>
          <p:nvPr/>
        </p:nvGraphicFramePr>
        <p:xfrm>
          <a:off x="457200" y="1325880"/>
          <a:ext cx="3000000" cy="3000000"/>
        </p:xfrm>
        <a:graphic>
          <a:graphicData uri="http://schemas.openxmlformats.org/drawingml/2006/table">
            <a:tbl>
              <a:tblPr>
                <a:noFill/>
                <a:tableStyleId>{E20EDB0A-AE5B-4DA6-B2E4-3D6F3A460D80}</a:tableStyleId>
              </a:tblPr>
              <a:tblGrid>
                <a:gridCol w="2377450"/>
                <a:gridCol w="4449925"/>
                <a:gridCol w="4449925"/>
              </a:tblGrid>
              <a:tr h="62180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Criterio</a:t>
                      </a:r>
                      <a:endParaRPr sz="130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2F3C7E"/>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Indeed</a:t>
                      </a:r>
                      <a:endParaRPr sz="130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2F3C7E"/>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Bumeran</a:t>
                      </a:r>
                      <a:endParaRPr sz="130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2F3C7E"/>
                    </a:solidFill>
                  </a:tcPr>
                </a:tc>
              </a:tr>
              <a:tr h="621800">
                <a:tc>
                  <a:txBody>
                    <a:bodyPr/>
                    <a:lstStyle/>
                    <a:p>
                      <a:pPr indent="0" lvl="0" marL="0" marR="0" rtl="0" algn="l">
                        <a:spcBef>
                          <a:spcPts val="0"/>
                        </a:spcBef>
                        <a:spcAft>
                          <a:spcPts val="0"/>
                        </a:spcAft>
                        <a:buClr>
                          <a:srgbClr val="2F3C7E"/>
                        </a:buClr>
                        <a:buSzPts val="1150"/>
                        <a:buFont typeface="Calibri"/>
                        <a:buNone/>
                      </a:pPr>
                      <a:r>
                        <a:rPr b="1" lang="en-US" sz="1150" u="none" cap="none" strike="noStrike">
                          <a:solidFill>
                            <a:srgbClr val="2F3C7E"/>
                          </a:solidFill>
                          <a:latin typeface="Calibri"/>
                          <a:ea typeface="Calibri"/>
                          <a:cs typeface="Calibri"/>
                          <a:sym typeface="Calibri"/>
                        </a:rPr>
                        <a:t>Arquitectura y navegación</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62B"/>
                        </a:buClr>
                        <a:buSzPts val="1150"/>
                        <a:buFont typeface="Calibri"/>
                        <a:buNone/>
                      </a:pPr>
                      <a:r>
                        <a:rPr lang="en-US" sz="1150" u="none" cap="none" strike="noStrike">
                          <a:solidFill>
                            <a:srgbClr val="23262B"/>
                          </a:solidFill>
                          <a:latin typeface="Calibri"/>
                          <a:ea typeface="Calibri"/>
                          <a:cs typeface="Calibri"/>
                          <a:sym typeface="Calibri"/>
                        </a:rPr>
                        <a:t>Home minimalista, foco en accesibilidad</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62B"/>
                        </a:buClr>
                        <a:buSzPts val="1150"/>
                        <a:buFont typeface="Calibri"/>
                        <a:buNone/>
                      </a:pPr>
                      <a:r>
                        <a:rPr lang="en-US" sz="1150" u="none" cap="none" strike="noStrike">
                          <a:solidFill>
                            <a:srgbClr val="23262B"/>
                          </a:solidFill>
                          <a:latin typeface="Calibri"/>
                          <a:ea typeface="Calibri"/>
                          <a:cs typeface="Calibri"/>
                          <a:sym typeface="Calibri"/>
                        </a:rPr>
                        <a:t>Home denso, con información de más</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r>
              <a:tr h="621800">
                <a:tc>
                  <a:txBody>
                    <a:bodyPr/>
                    <a:lstStyle/>
                    <a:p>
                      <a:pPr indent="0" lvl="0" marL="0" marR="0" rtl="0" algn="l">
                        <a:spcBef>
                          <a:spcPts val="0"/>
                        </a:spcBef>
                        <a:spcAft>
                          <a:spcPts val="0"/>
                        </a:spcAft>
                        <a:buClr>
                          <a:srgbClr val="2F3C7E"/>
                        </a:buClr>
                        <a:buSzPts val="1150"/>
                        <a:buFont typeface="Calibri"/>
                        <a:buNone/>
                      </a:pPr>
                      <a:r>
                        <a:rPr b="1" lang="en-US" sz="1150" u="none" cap="none" strike="noStrike">
                          <a:solidFill>
                            <a:srgbClr val="2F3C7E"/>
                          </a:solidFill>
                          <a:latin typeface="Calibri"/>
                          <a:ea typeface="Calibri"/>
                          <a:cs typeface="Calibri"/>
                          <a:sym typeface="Calibri"/>
                        </a:rPr>
                        <a:t>Buscador y filtros</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c>
                  <a:txBody>
                    <a:bodyPr/>
                    <a:lstStyle/>
                    <a:p>
                      <a:pPr indent="0" lvl="0" marL="0" marR="0" rtl="0" algn="l">
                        <a:spcBef>
                          <a:spcPts val="0"/>
                        </a:spcBef>
                        <a:spcAft>
                          <a:spcPts val="0"/>
                        </a:spcAft>
                        <a:buClr>
                          <a:srgbClr val="23262B"/>
                        </a:buClr>
                        <a:buSzPts val="1150"/>
                        <a:buFont typeface="Calibri"/>
                        <a:buNone/>
                      </a:pPr>
                      <a:r>
                        <a:rPr lang="en-US" sz="1150" u="none" cap="none" strike="noStrike">
                          <a:solidFill>
                            <a:srgbClr val="23262B"/>
                          </a:solidFill>
                          <a:latin typeface="Calibri"/>
                          <a:ea typeface="Calibri"/>
                          <a:cs typeface="Calibri"/>
                          <a:sym typeface="Calibri"/>
                        </a:rPr>
                        <a:t>Filtros básicos, búsqueda rápida</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c>
                  <a:txBody>
                    <a:bodyPr/>
                    <a:lstStyle/>
                    <a:p>
                      <a:pPr indent="0" lvl="0" marL="0" marR="0" rtl="0" algn="l">
                        <a:spcBef>
                          <a:spcPts val="0"/>
                        </a:spcBef>
                        <a:spcAft>
                          <a:spcPts val="0"/>
                        </a:spcAft>
                        <a:buClr>
                          <a:srgbClr val="23262B"/>
                        </a:buClr>
                        <a:buSzPts val="1150"/>
                        <a:buFont typeface="Calibri"/>
                        <a:buNone/>
                      </a:pPr>
                      <a:r>
                        <a:rPr lang="en-US" sz="1150" u="none" cap="none" strike="noStrike">
                          <a:solidFill>
                            <a:srgbClr val="23262B"/>
                          </a:solidFill>
                          <a:latin typeface="Calibri"/>
                          <a:ea typeface="Calibri"/>
                          <a:cs typeface="Calibri"/>
                          <a:sym typeface="Calibri"/>
                        </a:rPr>
                        <a:t>Filtros más granulares, más pasos</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r>
              <a:tr h="621800">
                <a:tc>
                  <a:txBody>
                    <a:bodyPr/>
                    <a:lstStyle/>
                    <a:p>
                      <a:pPr indent="0" lvl="0" marL="0" marR="0" rtl="0" algn="l">
                        <a:spcBef>
                          <a:spcPts val="0"/>
                        </a:spcBef>
                        <a:spcAft>
                          <a:spcPts val="0"/>
                        </a:spcAft>
                        <a:buClr>
                          <a:srgbClr val="2F3C7E"/>
                        </a:buClr>
                        <a:buSzPts val="1150"/>
                        <a:buFont typeface="Calibri"/>
                        <a:buNone/>
                      </a:pPr>
                      <a:r>
                        <a:rPr b="1" lang="en-US" sz="1150" u="none" cap="none" strike="noStrike">
                          <a:solidFill>
                            <a:srgbClr val="2F3C7E"/>
                          </a:solidFill>
                          <a:latin typeface="Calibri"/>
                          <a:ea typeface="Calibri"/>
                          <a:cs typeface="Calibri"/>
                          <a:sym typeface="Calibri"/>
                        </a:rPr>
                        <a:t>Presentación de ofertas</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62B"/>
                        </a:buClr>
                        <a:buSzPts val="1150"/>
                        <a:buFont typeface="Calibri"/>
                        <a:buNone/>
                      </a:pPr>
                      <a:r>
                        <a:rPr lang="en-US" sz="1150" u="none" cap="none" strike="noStrike">
                          <a:solidFill>
                            <a:srgbClr val="23262B"/>
                          </a:solidFill>
                          <a:latin typeface="Calibri"/>
                          <a:ea typeface="Calibri"/>
                          <a:cs typeface="Calibri"/>
                          <a:sym typeface="Calibri"/>
                        </a:rPr>
                        <a:t>Listado y detalle en la misma pantalla</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62B"/>
                        </a:buClr>
                        <a:buSzPts val="1150"/>
                        <a:buFont typeface="Calibri"/>
                        <a:buNone/>
                      </a:pPr>
                      <a:r>
                        <a:rPr lang="en-US" sz="1150" u="none" cap="none" strike="noStrike">
                          <a:solidFill>
                            <a:srgbClr val="23262B"/>
                          </a:solidFill>
                          <a:latin typeface="Calibri"/>
                          <a:ea typeface="Calibri"/>
                          <a:cs typeface="Calibri"/>
                          <a:sym typeface="Calibri"/>
                        </a:rPr>
                        <a:t>El detalle abre una vista nueva</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r>
              <a:tr h="621800">
                <a:tc>
                  <a:txBody>
                    <a:bodyPr/>
                    <a:lstStyle/>
                    <a:p>
                      <a:pPr indent="0" lvl="0" marL="0" marR="0" rtl="0" algn="l">
                        <a:spcBef>
                          <a:spcPts val="0"/>
                        </a:spcBef>
                        <a:spcAft>
                          <a:spcPts val="0"/>
                        </a:spcAft>
                        <a:buClr>
                          <a:srgbClr val="2F3C7E"/>
                        </a:buClr>
                        <a:buSzPts val="1150"/>
                        <a:buFont typeface="Calibri"/>
                        <a:buNone/>
                      </a:pPr>
                      <a:r>
                        <a:rPr b="1" lang="en-US" sz="1150" u="none" cap="none" strike="noStrike">
                          <a:solidFill>
                            <a:srgbClr val="2F3C7E"/>
                          </a:solidFill>
                          <a:latin typeface="Calibri"/>
                          <a:ea typeface="Calibri"/>
                          <a:cs typeface="Calibri"/>
                          <a:sym typeface="Calibri"/>
                        </a:rPr>
                        <a:t>Proceso de postulación</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c>
                  <a:txBody>
                    <a:bodyPr/>
                    <a:lstStyle/>
                    <a:p>
                      <a:pPr indent="0" lvl="0" marL="0" marR="0" rtl="0" algn="l">
                        <a:spcBef>
                          <a:spcPts val="0"/>
                        </a:spcBef>
                        <a:spcAft>
                          <a:spcPts val="0"/>
                        </a:spcAft>
                        <a:buClr>
                          <a:srgbClr val="23262B"/>
                        </a:buClr>
                        <a:buSzPts val="1150"/>
                        <a:buFont typeface="Calibri"/>
                        <a:buNone/>
                      </a:pPr>
                      <a:r>
                        <a:rPr lang="en-US" sz="1150" u="none" cap="none" strike="noStrike">
                          <a:solidFill>
                            <a:srgbClr val="23262B"/>
                          </a:solidFill>
                          <a:latin typeface="Calibri"/>
                          <a:ea typeface="Calibri"/>
                          <a:cs typeface="Calibri"/>
                          <a:sym typeface="Calibri"/>
                        </a:rPr>
                        <a:t>Guiada o externa, con acompañamiento</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c>
                  <a:txBody>
                    <a:bodyPr/>
                    <a:lstStyle/>
                    <a:p>
                      <a:pPr indent="0" lvl="0" marL="0" marR="0" rtl="0" algn="l">
                        <a:spcBef>
                          <a:spcPts val="0"/>
                        </a:spcBef>
                        <a:spcAft>
                          <a:spcPts val="0"/>
                        </a:spcAft>
                        <a:buClr>
                          <a:srgbClr val="23262B"/>
                        </a:buClr>
                        <a:buSzPts val="1150"/>
                        <a:buFont typeface="Calibri"/>
                        <a:buNone/>
                      </a:pPr>
                      <a:r>
                        <a:rPr lang="en-US" sz="1150" u="none" cap="none" strike="noStrike">
                          <a:solidFill>
                            <a:srgbClr val="23262B"/>
                          </a:solidFill>
                          <a:latin typeface="Calibri"/>
                          <a:ea typeface="Calibri"/>
                          <a:cs typeface="Calibri"/>
                          <a:sym typeface="Calibri"/>
                        </a:rPr>
                        <a:t>Un click, muy directa</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r>
              <a:tr h="621800">
                <a:tc>
                  <a:txBody>
                    <a:bodyPr/>
                    <a:lstStyle/>
                    <a:p>
                      <a:pPr indent="0" lvl="0" marL="0" marR="0" rtl="0" algn="l">
                        <a:spcBef>
                          <a:spcPts val="0"/>
                        </a:spcBef>
                        <a:spcAft>
                          <a:spcPts val="0"/>
                        </a:spcAft>
                        <a:buClr>
                          <a:srgbClr val="2F3C7E"/>
                        </a:buClr>
                        <a:buSzPts val="1150"/>
                        <a:buFont typeface="Calibri"/>
                        <a:buNone/>
                      </a:pPr>
                      <a:r>
                        <a:rPr b="1" lang="en-US" sz="1150" u="none" cap="none" strike="noStrike">
                          <a:solidFill>
                            <a:srgbClr val="2F3C7E"/>
                          </a:solidFill>
                          <a:latin typeface="Calibri"/>
                          <a:ea typeface="Calibri"/>
                          <a:cs typeface="Calibri"/>
                          <a:sym typeface="Calibri"/>
                        </a:rPr>
                        <a:t>Color y tipografía</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62B"/>
                        </a:buClr>
                        <a:buSzPts val="1150"/>
                        <a:buFont typeface="Calibri"/>
                        <a:buNone/>
                      </a:pPr>
                      <a:r>
                        <a:rPr lang="en-US" sz="1150" u="none" cap="none" strike="noStrike">
                          <a:solidFill>
                            <a:srgbClr val="23262B"/>
                          </a:solidFill>
                          <a:latin typeface="Calibri"/>
                          <a:ea typeface="Calibri"/>
                          <a:cs typeface="Calibri"/>
                          <a:sym typeface="Calibri"/>
                        </a:rPr>
                        <a:t>Paleta ordenada y consistente</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62B"/>
                        </a:buClr>
                        <a:buSzPts val="1150"/>
                        <a:buFont typeface="Calibri"/>
                        <a:buNone/>
                      </a:pPr>
                      <a:r>
                        <a:rPr lang="en-US" sz="1150" u="none" cap="none" strike="noStrike">
                          <a:solidFill>
                            <a:srgbClr val="23262B"/>
                          </a:solidFill>
                          <a:latin typeface="Calibri"/>
                          <a:ea typeface="Calibri"/>
                          <a:cs typeface="Calibri"/>
                          <a:sym typeface="Calibri"/>
                        </a:rPr>
                        <a:t>Paleta ampliada, uso menos sistemático</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r>
              <a:tr h="621800">
                <a:tc>
                  <a:txBody>
                    <a:bodyPr/>
                    <a:lstStyle/>
                    <a:p>
                      <a:pPr indent="0" lvl="0" marL="0" marR="0" rtl="0" algn="l">
                        <a:spcBef>
                          <a:spcPts val="0"/>
                        </a:spcBef>
                        <a:spcAft>
                          <a:spcPts val="0"/>
                        </a:spcAft>
                        <a:buClr>
                          <a:srgbClr val="2F3C7E"/>
                        </a:buClr>
                        <a:buSzPts val="1150"/>
                        <a:buFont typeface="Calibri"/>
                        <a:buNone/>
                      </a:pPr>
                      <a:r>
                        <a:rPr b="1" lang="en-US" sz="1150" u="none" cap="none" strike="noStrike">
                          <a:solidFill>
                            <a:srgbClr val="2F3C7E"/>
                          </a:solidFill>
                          <a:latin typeface="Calibri"/>
                          <a:ea typeface="Calibri"/>
                          <a:cs typeface="Calibri"/>
                          <a:sym typeface="Calibri"/>
                        </a:rPr>
                        <a:t>Heurísticas aplicadas</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c>
                  <a:txBody>
                    <a:bodyPr/>
                    <a:lstStyle/>
                    <a:p>
                      <a:pPr indent="0" lvl="0" marL="0" marR="0" rtl="0" algn="l">
                        <a:spcBef>
                          <a:spcPts val="0"/>
                        </a:spcBef>
                        <a:spcAft>
                          <a:spcPts val="0"/>
                        </a:spcAft>
                        <a:buClr>
                          <a:srgbClr val="23262B"/>
                        </a:buClr>
                        <a:buSzPts val="1150"/>
                        <a:buFont typeface="Calibri"/>
                        <a:buNone/>
                      </a:pPr>
                      <a:r>
                        <a:rPr lang="en-US" sz="1150" u="none" cap="none" strike="noStrike">
                          <a:solidFill>
                            <a:srgbClr val="23262B"/>
                          </a:solidFill>
                          <a:latin typeface="Calibri"/>
                          <a:ea typeface="Calibri"/>
                          <a:cs typeface="Calibri"/>
                          <a:sym typeface="Calibri"/>
                        </a:rPr>
                        <a:t>Menor carga visual, más ayuda y documentación</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c>
                  <a:txBody>
                    <a:bodyPr/>
                    <a:lstStyle/>
                    <a:p>
                      <a:pPr indent="0" lvl="0" marL="0" marR="0" rtl="0" algn="l">
                        <a:spcBef>
                          <a:spcPts val="0"/>
                        </a:spcBef>
                        <a:spcAft>
                          <a:spcPts val="0"/>
                        </a:spcAft>
                        <a:buClr>
                          <a:srgbClr val="23262B"/>
                        </a:buClr>
                        <a:buSzPts val="1150"/>
                        <a:buFont typeface="Calibri"/>
                        <a:buNone/>
                      </a:pPr>
                      <a:r>
                        <a:rPr lang="en-US" sz="1150" u="none" cap="none" strike="noStrike">
                          <a:solidFill>
                            <a:srgbClr val="23262B"/>
                          </a:solidFill>
                          <a:latin typeface="Calibri"/>
                          <a:ea typeface="Calibri"/>
                          <a:cs typeface="Calibri"/>
                          <a:sym typeface="Calibri"/>
                        </a:rPr>
                        <a:t>Más iconografía, feedback de postulación directo</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2F5FC"/>
                    </a:solidFill>
                  </a:tcPr>
                </a:tc>
              </a:tr>
              <a:tr h="621800">
                <a:tc>
                  <a:txBody>
                    <a:bodyPr/>
                    <a:lstStyle/>
                    <a:p>
                      <a:pPr indent="0" lvl="0" marL="0" marR="0" rtl="0" algn="l">
                        <a:spcBef>
                          <a:spcPts val="0"/>
                        </a:spcBef>
                        <a:spcAft>
                          <a:spcPts val="0"/>
                        </a:spcAft>
                        <a:buClr>
                          <a:srgbClr val="2F3C7E"/>
                        </a:buClr>
                        <a:buSzPts val="1150"/>
                        <a:buFont typeface="Calibri"/>
                        <a:buNone/>
                      </a:pPr>
                      <a:r>
                        <a:rPr b="1" lang="en-US" sz="1150" u="none" cap="none" strike="noStrike">
                          <a:solidFill>
                            <a:srgbClr val="2F3C7E"/>
                          </a:solidFill>
                          <a:latin typeface="Calibri"/>
                          <a:ea typeface="Calibri"/>
                          <a:cs typeface="Calibri"/>
                          <a:sym typeface="Calibri"/>
                        </a:rPr>
                        <a:t>Patrones de navegación</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62B"/>
                        </a:buClr>
                        <a:buSzPts val="1150"/>
                        <a:buFont typeface="Calibri"/>
                        <a:buNone/>
                      </a:pPr>
                      <a:r>
                        <a:rPr lang="en-US" sz="1150" u="none" cap="none" strike="noStrike">
                          <a:solidFill>
                            <a:srgbClr val="23262B"/>
                          </a:solidFill>
                          <a:latin typeface="Calibri"/>
                          <a:ea typeface="Calibri"/>
                          <a:cs typeface="Calibri"/>
                          <a:sym typeface="Calibri"/>
                        </a:rPr>
                        <a:t>Mismo flujo, sin cambiar de pantalla</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62B"/>
                        </a:buClr>
                        <a:buSzPts val="1150"/>
                        <a:buFont typeface="Calibri"/>
                        <a:buNone/>
                      </a:pPr>
                      <a:r>
                        <a:rPr lang="en-US" sz="1150" u="none" cap="none" strike="noStrike">
                          <a:solidFill>
                            <a:srgbClr val="23262B"/>
                          </a:solidFill>
                          <a:latin typeface="Calibri"/>
                          <a:ea typeface="Calibri"/>
                          <a:cs typeface="Calibri"/>
                          <a:sym typeface="Calibri"/>
                        </a:rPr>
                        <a:t>Mismo flujo, con cambio de vista</a:t>
                      </a:r>
                      <a:endParaRPr sz="1150" u="none" cap="none" strike="noStrike">
                        <a:latin typeface="Calibri"/>
                        <a:ea typeface="Calibri"/>
                        <a:cs typeface="Calibri"/>
                        <a:sym typeface="Calibri"/>
                      </a:endParaRPr>
                    </a:p>
                  </a:txBody>
                  <a:tcPr marT="76200" marB="76200" marR="127000" marL="127000" anchor="ctr">
                    <a:lnL cap="flat" cmpd="sng" w="9525">
                      <a:solidFill>
                        <a:srgbClr val="D8DCEA"/>
                      </a:solidFill>
                      <a:prstDash val="solid"/>
                      <a:round/>
                      <a:headEnd len="sm" w="sm" type="none"/>
                      <a:tailEnd len="sm" w="sm" type="none"/>
                    </a:lnL>
                    <a:lnR cap="flat" cmpd="sng" w="9525">
                      <a:solidFill>
                        <a:srgbClr val="D8DCEA"/>
                      </a:solidFill>
                      <a:prstDash val="solid"/>
                      <a:round/>
                      <a:headEnd len="sm" w="sm" type="none"/>
                      <a:tailEnd len="sm" w="sm" type="none"/>
                    </a:lnR>
                    <a:lnT cap="flat" cmpd="sng" w="9525">
                      <a:solidFill>
                        <a:srgbClr val="D8DCEA"/>
                      </a:solidFill>
                      <a:prstDash val="solid"/>
                      <a:round/>
                      <a:headEnd len="sm" w="sm" type="none"/>
                      <a:tailEnd len="sm" w="sm" type="none"/>
                    </a:lnT>
                    <a:lnB cap="flat" cmpd="sng" w="9525">
                      <a:solidFill>
                        <a:srgbClr val="D8DCEA"/>
                      </a:solidFill>
                      <a:prstDash val="solid"/>
                      <a:round/>
                      <a:headEnd len="sm" w="sm" type="none"/>
                      <a:tailEnd len="sm" w="sm" type="none"/>
                    </a:lnB>
                    <a:solidFill>
                      <a:srgbClr val="FFFFFF"/>
                    </a:solidFill>
                  </a:tcPr>
                </a:tc>
              </a:tr>
            </a:tbl>
          </a:graphicData>
        </a:graphic>
      </p:graphicFrame>
      <p:sp>
        <p:nvSpPr>
          <p:cNvPr id="217" name="Google Shape;217;p13"/>
          <p:cNvSpPr txBox="1"/>
          <p:nvPr/>
        </p:nvSpPr>
        <p:spPr>
          <a:xfrm>
            <a:off x="457200" y="6510528"/>
            <a:ext cx="1127729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TP Integrador — Diseño y Maquetado Web  |  Etapa 1: Benchmarking  |  Lazzatti, Guerra y Regidor</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2" name="Shape 222"/>
        <p:cNvGrpSpPr/>
        <p:nvPr/>
      </p:nvGrpSpPr>
      <p:grpSpPr>
        <a:xfrm>
          <a:off x="0" y="0"/>
          <a:ext cx="0" cy="0"/>
          <a:chOff x="0" y="0"/>
          <a:chExt cx="0" cy="0"/>
        </a:xfrm>
      </p:grpSpPr>
      <p:sp>
        <p:nvSpPr>
          <p:cNvPr id="223" name="Google Shape;223;p14"/>
          <p:cNvSpPr/>
          <p:nvPr/>
        </p:nvSpPr>
        <p:spPr>
          <a:xfrm>
            <a:off x="457200" y="411480"/>
            <a:ext cx="658368" cy="658368"/>
          </a:xfrm>
          <a:prstGeom prst="ellipse">
            <a:avLst/>
          </a:prstGeom>
          <a:solidFill>
            <a:srgbClr val="F2C1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4"/>
          <p:cNvSpPr txBox="1"/>
          <p:nvPr/>
        </p:nvSpPr>
        <p:spPr>
          <a:xfrm>
            <a:off x="45720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3C7E"/>
              </a:buClr>
              <a:buSzPts val="1500"/>
              <a:buFont typeface="Cambria"/>
              <a:buNone/>
            </a:pPr>
            <a:r>
              <a:rPr b="1" i="0" lang="en-US" sz="1500" u="none" cap="none" strike="noStrike">
                <a:solidFill>
                  <a:srgbClr val="2F3C7E"/>
                </a:solidFill>
                <a:latin typeface="Cambria"/>
                <a:ea typeface="Cambria"/>
                <a:cs typeface="Cambria"/>
                <a:sym typeface="Cambria"/>
              </a:rPr>
              <a:t>IA</a:t>
            </a:r>
            <a:endParaRPr b="0" i="0" sz="1500" u="none" cap="none" strike="noStrike">
              <a:solidFill>
                <a:schemeClr val="dk1"/>
              </a:solidFill>
              <a:latin typeface="Calibri"/>
              <a:ea typeface="Calibri"/>
              <a:cs typeface="Calibri"/>
              <a:sym typeface="Calibri"/>
            </a:endParaRPr>
          </a:p>
        </p:txBody>
      </p:sp>
      <p:sp>
        <p:nvSpPr>
          <p:cNvPr id="225" name="Google Shape;225;p14"/>
          <p:cNvSpPr txBox="1"/>
          <p:nvPr/>
        </p:nvSpPr>
        <p:spPr>
          <a:xfrm>
            <a:off x="1344168" y="384048"/>
            <a:ext cx="10390327"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6167"/>
              </a:buClr>
              <a:buSzPts val="1200"/>
              <a:buFont typeface="Calibri"/>
              <a:buNone/>
            </a:pPr>
            <a:r>
              <a:rPr b="1" i="0" lang="en-US" sz="1200" u="none" cap="none" strike="noStrike">
                <a:solidFill>
                  <a:srgbClr val="F96167"/>
                </a:solidFill>
                <a:latin typeface="Calibri"/>
                <a:ea typeface="Calibri"/>
                <a:cs typeface="Calibri"/>
                <a:sym typeface="Calibri"/>
              </a:rPr>
              <a:t>HIPÓTESIS </a:t>
            </a:r>
            <a:r>
              <a:rPr b="1" lang="en-US" sz="1200">
                <a:solidFill>
                  <a:srgbClr val="F96167"/>
                </a:solidFill>
                <a:latin typeface="Calibri"/>
                <a:ea typeface="Calibri"/>
                <a:cs typeface="Calibri"/>
                <a:sym typeface="Calibri"/>
              </a:rPr>
              <a:t>generadas por GPT-6 Astra</a:t>
            </a:r>
            <a:endParaRPr b="0" i="0" sz="1200" u="none" cap="none" strike="noStrike">
              <a:solidFill>
                <a:schemeClr val="dk1"/>
              </a:solidFill>
              <a:latin typeface="Calibri"/>
              <a:ea typeface="Calibri"/>
              <a:cs typeface="Calibri"/>
              <a:sym typeface="Calibri"/>
            </a:endParaRPr>
          </a:p>
        </p:txBody>
      </p:sp>
      <p:sp>
        <p:nvSpPr>
          <p:cNvPr id="226" name="Google Shape;226;p14"/>
          <p:cNvSpPr txBox="1"/>
          <p:nvPr/>
        </p:nvSpPr>
        <p:spPr>
          <a:xfrm>
            <a:off x="1344168" y="621792"/>
            <a:ext cx="10390327"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F3C7E"/>
              </a:buClr>
              <a:buSzPts val="2300"/>
              <a:buFont typeface="Cambria"/>
              <a:buNone/>
            </a:pPr>
            <a:r>
              <a:rPr b="1" i="0" lang="en-US" sz="2300" u="none" cap="none" strike="noStrike">
                <a:solidFill>
                  <a:srgbClr val="2F3C7E"/>
                </a:solidFill>
                <a:latin typeface="Cambria"/>
                <a:ea typeface="Cambria"/>
                <a:cs typeface="Cambria"/>
                <a:sym typeface="Cambria"/>
              </a:rPr>
              <a:t>Hipótesis comprobables mediante la navegación</a:t>
            </a:r>
            <a:endParaRPr b="0" i="0" sz="2300" u="none" cap="none" strike="noStrike">
              <a:solidFill>
                <a:schemeClr val="dk1"/>
              </a:solidFill>
              <a:latin typeface="Calibri"/>
              <a:ea typeface="Calibri"/>
              <a:cs typeface="Calibri"/>
              <a:sym typeface="Calibri"/>
            </a:endParaRPr>
          </a:p>
        </p:txBody>
      </p:sp>
      <p:sp>
        <p:nvSpPr>
          <p:cNvPr id="227" name="Google Shape;227;p14"/>
          <p:cNvSpPr/>
          <p:nvPr/>
        </p:nvSpPr>
        <p:spPr>
          <a:xfrm>
            <a:off x="457200" y="1965960"/>
            <a:ext cx="384048" cy="38404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4"/>
          <p:cNvSpPr txBox="1"/>
          <p:nvPr/>
        </p:nvSpPr>
        <p:spPr>
          <a:xfrm>
            <a:off x="457200" y="1965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1</a:t>
            </a:r>
            <a:endParaRPr b="0" i="0" sz="1300" u="none" cap="none" strike="noStrike">
              <a:solidFill>
                <a:schemeClr val="dk1"/>
              </a:solidFill>
              <a:latin typeface="Calibri"/>
              <a:ea typeface="Calibri"/>
              <a:cs typeface="Calibri"/>
              <a:sym typeface="Calibri"/>
            </a:endParaRPr>
          </a:p>
        </p:txBody>
      </p:sp>
      <p:sp>
        <p:nvSpPr>
          <p:cNvPr id="229" name="Google Shape;229;p14"/>
          <p:cNvSpPr txBox="1"/>
          <p:nvPr/>
        </p:nvSpPr>
        <p:spPr>
          <a:xfrm>
            <a:off x="960120" y="1920240"/>
            <a:ext cx="4998530" cy="17556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333F89"/>
                </a:solidFill>
                <a:latin typeface="Calibri"/>
                <a:ea typeface="Calibri"/>
                <a:cs typeface="Calibri"/>
                <a:sym typeface="Calibri"/>
              </a:rPr>
              <a:t>Consulta de ofertas</a:t>
            </a:r>
            <a:endParaRPr/>
          </a:p>
          <a:p>
            <a:pPr indent="0" lvl="0" marL="0" marR="0" rtl="0" algn="l">
              <a:spcBef>
                <a:spcPts val="400"/>
              </a:spcBef>
              <a:spcAft>
                <a:spcPts val="0"/>
              </a:spcAft>
              <a:buNone/>
            </a:pPr>
            <a:r>
              <a:rPr b="0" i="0" lang="en-US" sz="1200" u="none" cap="none" strike="noStrike">
                <a:solidFill>
                  <a:srgbClr val="232323"/>
                </a:solidFill>
                <a:latin typeface="Calibri"/>
                <a:ea typeface="Calibri"/>
                <a:cs typeface="Calibri"/>
                <a:sym typeface="Calibri"/>
              </a:rPr>
              <a:t>Para leer una oferta completa, la plataforma obliga a abandonar el listado de resultados.</a:t>
            </a:r>
            <a:endParaRPr/>
          </a:p>
          <a:p>
            <a:pPr indent="0" lvl="0" marL="0" marR="0" rtl="0" algn="l">
              <a:spcBef>
                <a:spcPts val="700"/>
              </a:spcBef>
              <a:spcAft>
                <a:spcPts val="0"/>
              </a:spcAft>
              <a:buNone/>
            </a:pPr>
            <a:r>
              <a:rPr b="1" lang="en-US" sz="1200">
                <a:solidFill>
                  <a:srgbClr val="697386"/>
                </a:solidFill>
                <a:latin typeface="Calibri"/>
                <a:ea typeface="Calibri"/>
                <a:cs typeface="Calibri"/>
                <a:sym typeface="Calibri"/>
              </a:rPr>
              <a:t>Confirmado: </a:t>
            </a:r>
            <a:r>
              <a:rPr lang="en-US" sz="1200">
                <a:solidFill>
                  <a:srgbClr val="697386"/>
                </a:solidFill>
                <a:latin typeface="Calibri"/>
                <a:ea typeface="Calibri"/>
                <a:cs typeface="Calibri"/>
                <a:sym typeface="Calibri"/>
              </a:rPr>
              <a:t>Bumeran te obliga a abandonar el listado de ofertas laborales a la hora de revisar los detalles de seleccionar una de ellas.</a:t>
            </a:r>
            <a:endParaRPr>
              <a:latin typeface="Calibri"/>
              <a:ea typeface="Calibri"/>
              <a:cs typeface="Calibri"/>
              <a:sym typeface="Calibri"/>
            </a:endParaRPr>
          </a:p>
        </p:txBody>
      </p:sp>
      <p:sp>
        <p:nvSpPr>
          <p:cNvPr id="230" name="Google Shape;230;p14"/>
          <p:cNvSpPr/>
          <p:nvPr/>
        </p:nvSpPr>
        <p:spPr>
          <a:xfrm>
            <a:off x="6232970" y="1965960"/>
            <a:ext cx="384048" cy="38404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4"/>
          <p:cNvSpPr txBox="1"/>
          <p:nvPr/>
        </p:nvSpPr>
        <p:spPr>
          <a:xfrm>
            <a:off x="6232970" y="1965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2</a:t>
            </a:r>
            <a:endParaRPr b="0" i="0" sz="1300" u="none" cap="none" strike="noStrike">
              <a:solidFill>
                <a:schemeClr val="dk1"/>
              </a:solidFill>
              <a:latin typeface="Calibri"/>
              <a:ea typeface="Calibri"/>
              <a:cs typeface="Calibri"/>
              <a:sym typeface="Calibri"/>
            </a:endParaRPr>
          </a:p>
        </p:txBody>
      </p:sp>
      <p:sp>
        <p:nvSpPr>
          <p:cNvPr id="232" name="Google Shape;232;p14"/>
          <p:cNvSpPr txBox="1"/>
          <p:nvPr/>
        </p:nvSpPr>
        <p:spPr>
          <a:xfrm>
            <a:off x="6735889" y="1920240"/>
            <a:ext cx="4998530" cy="17556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333F89"/>
                </a:solidFill>
                <a:latin typeface="Calibri"/>
                <a:ea typeface="Calibri"/>
                <a:cs typeface="Calibri"/>
                <a:sym typeface="Calibri"/>
              </a:rPr>
              <a:t>Filtro para empleos sin experiencia</a:t>
            </a:r>
            <a:endParaRPr/>
          </a:p>
          <a:p>
            <a:pPr indent="0" lvl="0" marL="0" marR="0" rtl="0" algn="l">
              <a:spcBef>
                <a:spcPts val="400"/>
              </a:spcBef>
              <a:spcAft>
                <a:spcPts val="0"/>
              </a:spcAft>
              <a:buNone/>
            </a:pPr>
            <a:r>
              <a:rPr b="0" i="0" lang="en-US" sz="1200" u="none" cap="none" strike="noStrike">
                <a:solidFill>
                  <a:srgbClr val="232323"/>
                </a:solidFill>
                <a:latin typeface="Calibri"/>
                <a:ea typeface="Calibri"/>
                <a:cs typeface="Calibri"/>
                <a:sym typeface="Calibri"/>
              </a:rPr>
              <a:t>La plataforma no ofrece un filtro específico para encontrar empleos que no requieran experiencia previa.</a:t>
            </a:r>
            <a:endParaRPr/>
          </a:p>
          <a:p>
            <a:pPr indent="0" lvl="0" marL="0" marR="0" rtl="0" algn="l">
              <a:spcBef>
                <a:spcPts val="700"/>
              </a:spcBef>
              <a:spcAft>
                <a:spcPts val="0"/>
              </a:spcAft>
              <a:buNone/>
            </a:pPr>
            <a:r>
              <a:rPr b="1" lang="en-US" sz="1200">
                <a:solidFill>
                  <a:srgbClr val="697386"/>
                </a:solidFill>
                <a:latin typeface="Calibri"/>
                <a:ea typeface="Calibri"/>
                <a:cs typeface="Calibri"/>
                <a:sym typeface="Calibri"/>
              </a:rPr>
              <a:t>Confirmado: </a:t>
            </a:r>
            <a:r>
              <a:rPr lang="en-US" sz="1200">
                <a:solidFill>
                  <a:srgbClr val="697386"/>
                </a:solidFill>
                <a:latin typeface="Calibri"/>
                <a:ea typeface="Calibri"/>
                <a:cs typeface="Calibri"/>
                <a:sym typeface="Calibri"/>
              </a:rPr>
              <a:t>Indeed no presenta un filtro de experiencia previa, bumeran si lo hace.</a:t>
            </a:r>
            <a:endParaRPr>
              <a:latin typeface="Calibri"/>
              <a:ea typeface="Calibri"/>
              <a:cs typeface="Calibri"/>
              <a:sym typeface="Calibri"/>
            </a:endParaRPr>
          </a:p>
        </p:txBody>
      </p:sp>
      <p:sp>
        <p:nvSpPr>
          <p:cNvPr id="233" name="Google Shape;233;p14"/>
          <p:cNvSpPr/>
          <p:nvPr/>
        </p:nvSpPr>
        <p:spPr>
          <a:xfrm>
            <a:off x="457200" y="4123944"/>
            <a:ext cx="384048" cy="38404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4"/>
          <p:cNvSpPr txBox="1"/>
          <p:nvPr/>
        </p:nvSpPr>
        <p:spPr>
          <a:xfrm>
            <a:off x="457200" y="412394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3</a:t>
            </a:r>
            <a:endParaRPr b="0" i="0" sz="1300" u="none" cap="none" strike="noStrike">
              <a:solidFill>
                <a:schemeClr val="dk1"/>
              </a:solidFill>
              <a:latin typeface="Calibri"/>
              <a:ea typeface="Calibri"/>
              <a:cs typeface="Calibri"/>
              <a:sym typeface="Calibri"/>
            </a:endParaRPr>
          </a:p>
        </p:txBody>
      </p:sp>
      <p:sp>
        <p:nvSpPr>
          <p:cNvPr id="235" name="Google Shape;235;p14"/>
          <p:cNvSpPr txBox="1"/>
          <p:nvPr/>
        </p:nvSpPr>
        <p:spPr>
          <a:xfrm>
            <a:off x="960120" y="4078224"/>
            <a:ext cx="4998530" cy="17556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333F89"/>
                </a:solidFill>
                <a:latin typeface="Calibri"/>
                <a:ea typeface="Calibri"/>
                <a:cs typeface="Calibri"/>
                <a:sym typeface="Calibri"/>
              </a:rPr>
              <a:t>Confirmación de la postulación</a:t>
            </a:r>
            <a:endParaRPr/>
          </a:p>
          <a:p>
            <a:pPr indent="0" lvl="0" marL="0" marR="0" rtl="0" algn="l">
              <a:spcBef>
                <a:spcPts val="400"/>
              </a:spcBef>
              <a:spcAft>
                <a:spcPts val="0"/>
              </a:spcAft>
              <a:buNone/>
            </a:pPr>
            <a:r>
              <a:rPr b="0" i="0" lang="en-US" sz="1200" u="none" cap="none" strike="noStrike">
                <a:solidFill>
                  <a:srgbClr val="232323"/>
                </a:solidFill>
                <a:latin typeface="Calibri"/>
                <a:ea typeface="Calibri"/>
                <a:cs typeface="Calibri"/>
                <a:sym typeface="Calibri"/>
              </a:rPr>
              <a:t>Al finalizar una postulación, la plataforma no muestra una confirmación clara de que se envió correctamente.</a:t>
            </a:r>
            <a:endParaRPr/>
          </a:p>
          <a:p>
            <a:pPr indent="0" lvl="0" marL="0" marR="0" rtl="0" algn="l">
              <a:spcBef>
                <a:spcPts val="700"/>
              </a:spcBef>
              <a:spcAft>
                <a:spcPts val="0"/>
              </a:spcAft>
              <a:buNone/>
            </a:pPr>
            <a:r>
              <a:rPr b="1" lang="en-US" sz="1200">
                <a:solidFill>
                  <a:srgbClr val="F96167"/>
                </a:solidFill>
                <a:latin typeface="Calibri"/>
                <a:ea typeface="Calibri"/>
                <a:cs typeface="Calibri"/>
                <a:sym typeface="Calibri"/>
              </a:rPr>
              <a:t>Desmentida: </a:t>
            </a:r>
            <a:r>
              <a:rPr lang="en-US" sz="1200">
                <a:solidFill>
                  <a:srgbClr val="F96167"/>
                </a:solidFill>
                <a:latin typeface="Calibri"/>
                <a:ea typeface="Calibri"/>
                <a:cs typeface="Calibri"/>
                <a:sym typeface="Calibri"/>
              </a:rPr>
              <a:t>Ambas plataformas muestran confirmación clara de que se envió una solicitud.</a:t>
            </a:r>
            <a:endParaRPr>
              <a:solidFill>
                <a:srgbClr val="F96167"/>
              </a:solidFill>
              <a:latin typeface="Calibri"/>
              <a:ea typeface="Calibri"/>
              <a:cs typeface="Calibri"/>
              <a:sym typeface="Calibri"/>
            </a:endParaRPr>
          </a:p>
        </p:txBody>
      </p:sp>
      <p:sp>
        <p:nvSpPr>
          <p:cNvPr id="236" name="Google Shape;236;p14"/>
          <p:cNvSpPr/>
          <p:nvPr/>
        </p:nvSpPr>
        <p:spPr>
          <a:xfrm>
            <a:off x="6232970" y="4123944"/>
            <a:ext cx="384048" cy="384048"/>
          </a:xfrm>
          <a:prstGeom prst="ellipse">
            <a:avLst/>
          </a:prstGeom>
          <a:solidFill>
            <a:srgbClr val="2F3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4"/>
          <p:cNvSpPr txBox="1"/>
          <p:nvPr/>
        </p:nvSpPr>
        <p:spPr>
          <a:xfrm>
            <a:off x="6232970" y="412394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4</a:t>
            </a:r>
            <a:endParaRPr b="0" i="0" sz="1300" u="none" cap="none" strike="noStrike">
              <a:solidFill>
                <a:schemeClr val="dk1"/>
              </a:solidFill>
              <a:latin typeface="Calibri"/>
              <a:ea typeface="Calibri"/>
              <a:cs typeface="Calibri"/>
              <a:sym typeface="Calibri"/>
            </a:endParaRPr>
          </a:p>
        </p:txBody>
      </p:sp>
      <p:sp>
        <p:nvSpPr>
          <p:cNvPr id="238" name="Google Shape;238;p14"/>
          <p:cNvSpPr txBox="1"/>
          <p:nvPr/>
        </p:nvSpPr>
        <p:spPr>
          <a:xfrm>
            <a:off x="6735889" y="4078224"/>
            <a:ext cx="4998530" cy="175564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333F89"/>
                </a:solidFill>
                <a:latin typeface="Calibri"/>
                <a:ea typeface="Calibri"/>
                <a:cs typeface="Calibri"/>
                <a:sym typeface="Calibri"/>
              </a:rPr>
              <a:t>Aviso ante la pérdida de conexión</a:t>
            </a:r>
            <a:endParaRPr/>
          </a:p>
          <a:p>
            <a:pPr indent="0" lvl="0" marL="0" marR="0" rtl="0" algn="l">
              <a:spcBef>
                <a:spcPts val="400"/>
              </a:spcBef>
              <a:spcAft>
                <a:spcPts val="0"/>
              </a:spcAft>
              <a:buNone/>
            </a:pPr>
            <a:r>
              <a:rPr b="0" i="0" lang="en-US" sz="1200" u="none" cap="none" strike="noStrike">
                <a:solidFill>
                  <a:srgbClr val="232323"/>
                </a:solidFill>
                <a:latin typeface="Calibri"/>
                <a:ea typeface="Calibri"/>
                <a:cs typeface="Calibri"/>
                <a:sym typeface="Calibri"/>
              </a:rPr>
              <a:t>Si se pierde la conexión a internet durante el uso, la plataforma no muestra un mensaje que explique el problema.</a:t>
            </a:r>
            <a:endParaRPr/>
          </a:p>
          <a:p>
            <a:pPr indent="0" lvl="0" marL="0" marR="0" rtl="0" algn="l">
              <a:spcBef>
                <a:spcPts val="700"/>
              </a:spcBef>
              <a:spcAft>
                <a:spcPts val="0"/>
              </a:spcAft>
              <a:buNone/>
            </a:pPr>
            <a:r>
              <a:rPr b="1" lang="en-US" sz="1200">
                <a:solidFill>
                  <a:srgbClr val="697386"/>
                </a:solidFill>
                <a:latin typeface="Calibri"/>
                <a:ea typeface="Calibri"/>
                <a:cs typeface="Calibri"/>
                <a:sym typeface="Calibri"/>
              </a:rPr>
              <a:t>Confirmado: </a:t>
            </a:r>
            <a:r>
              <a:rPr lang="en-US" sz="1200">
                <a:solidFill>
                  <a:srgbClr val="697386"/>
                </a:solidFill>
                <a:latin typeface="Calibri"/>
                <a:ea typeface="Calibri"/>
                <a:cs typeface="Calibri"/>
                <a:sym typeface="Calibri"/>
              </a:rPr>
              <a:t>Ninguna de las dos plataformas muestra mensajes de error al comprometerse la conexión a internet.</a:t>
            </a:r>
            <a:endParaRPr>
              <a:latin typeface="Calibri"/>
              <a:ea typeface="Calibri"/>
              <a:cs typeface="Calibri"/>
              <a:sym typeface="Calibri"/>
            </a:endParaRPr>
          </a:p>
        </p:txBody>
      </p:sp>
      <p:sp>
        <p:nvSpPr>
          <p:cNvPr id="239" name="Google Shape;239;p14"/>
          <p:cNvSpPr txBox="1"/>
          <p:nvPr/>
        </p:nvSpPr>
        <p:spPr>
          <a:xfrm>
            <a:off x="457200" y="6510528"/>
            <a:ext cx="11277295"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950"/>
              <a:buFont typeface="Calibri"/>
              <a:buNone/>
            </a:pPr>
            <a:r>
              <a:rPr b="0" i="0" lang="en-US" sz="950" u="none" cap="none" strike="noStrike">
                <a:solidFill>
                  <a:srgbClr val="6B7280"/>
                </a:solidFill>
                <a:latin typeface="Calibri"/>
                <a:ea typeface="Calibri"/>
                <a:cs typeface="Calibri"/>
                <a:sym typeface="Calibri"/>
              </a:rPr>
              <a:t>TP Integrador — Diseño y Maquetado Web  |  Etapa 1: Benchmarking  |  Lazzatti, Guerra y Regidor</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4" name="Shape 244"/>
        <p:cNvGrpSpPr/>
        <p:nvPr/>
      </p:nvGrpSpPr>
      <p:grpSpPr>
        <a:xfrm>
          <a:off x="0" y="0"/>
          <a:ext cx="0" cy="0"/>
          <a:chOff x="0" y="0"/>
          <a:chExt cx="0" cy="0"/>
        </a:xfrm>
      </p:grpSpPr>
      <p:sp>
        <p:nvSpPr>
          <p:cNvPr id="245" name="Google Shape;245;p15"/>
          <p:cNvSpPr txBox="1"/>
          <p:nvPr/>
        </p:nvSpPr>
        <p:spPr>
          <a:xfrm>
            <a:off x="0" y="502920"/>
            <a:ext cx="12191695"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C14E"/>
              </a:buClr>
              <a:buSzPts val="1300"/>
              <a:buFont typeface="Calibri"/>
              <a:buNone/>
            </a:pPr>
            <a:r>
              <a:rPr b="1" i="0" lang="en-US" sz="1300" u="none" cap="none" strike="noStrike">
                <a:solidFill>
                  <a:srgbClr val="F2C14E"/>
                </a:solidFill>
                <a:latin typeface="Calibri"/>
                <a:ea typeface="Calibri"/>
                <a:cs typeface="Calibri"/>
                <a:sym typeface="Calibri"/>
              </a:rPr>
              <a:t>CIERRE — ETAPA 1</a:t>
            </a:r>
            <a:endParaRPr b="0" i="0" sz="1300" u="none" cap="none" strike="noStrike">
              <a:solidFill>
                <a:schemeClr val="dk1"/>
              </a:solidFill>
              <a:latin typeface="Calibri"/>
              <a:ea typeface="Calibri"/>
              <a:cs typeface="Calibri"/>
              <a:sym typeface="Calibri"/>
            </a:endParaRPr>
          </a:p>
        </p:txBody>
      </p:sp>
      <p:sp>
        <p:nvSpPr>
          <p:cNvPr id="246" name="Google Shape;246;p15"/>
          <p:cNvSpPr txBox="1"/>
          <p:nvPr/>
        </p:nvSpPr>
        <p:spPr>
          <a:xfrm>
            <a:off x="731520" y="822960"/>
            <a:ext cx="10728655"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400"/>
              <a:buFont typeface="Cambria"/>
              <a:buNone/>
            </a:pPr>
            <a:r>
              <a:rPr b="1" i="0" lang="en-US" sz="3400" u="none" cap="none" strike="noStrike">
                <a:solidFill>
                  <a:srgbClr val="FFFFFF"/>
                </a:solidFill>
                <a:latin typeface="Cambria"/>
                <a:ea typeface="Cambria"/>
                <a:cs typeface="Cambria"/>
                <a:sym typeface="Cambria"/>
              </a:rPr>
              <a:t>Nuestra conclusión</a:t>
            </a:r>
            <a:endParaRPr b="0" i="0" sz="3400" u="none" cap="none" strike="noStrike">
              <a:solidFill>
                <a:schemeClr val="dk1"/>
              </a:solidFill>
              <a:latin typeface="Calibri"/>
              <a:ea typeface="Calibri"/>
              <a:cs typeface="Calibri"/>
              <a:sym typeface="Calibri"/>
            </a:endParaRPr>
          </a:p>
        </p:txBody>
      </p:sp>
      <p:sp>
        <p:nvSpPr>
          <p:cNvPr id="247" name="Google Shape;247;p15"/>
          <p:cNvSpPr/>
          <p:nvPr/>
        </p:nvSpPr>
        <p:spPr>
          <a:xfrm>
            <a:off x="1188725" y="1920251"/>
            <a:ext cx="9814200" cy="4160400"/>
          </a:xfrm>
          <a:prstGeom prst="roundRect">
            <a:avLst>
              <a:gd fmla="val 3256" name="adj"/>
            </a:avLst>
          </a:prstGeom>
          <a:solidFill>
            <a:srgbClr val="FFFFFF">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
          <p:cNvSpPr txBox="1"/>
          <p:nvPr/>
        </p:nvSpPr>
        <p:spPr>
          <a:xfrm>
            <a:off x="1645925" y="2380600"/>
            <a:ext cx="8899800" cy="3239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i="1" lang="en-US" sz="1600">
                <a:solidFill>
                  <a:srgbClr val="C3CBE6"/>
                </a:solidFill>
                <a:latin typeface="Calibri"/>
                <a:ea typeface="Calibri"/>
                <a:cs typeface="Calibri"/>
                <a:sym typeface="Calibri"/>
              </a:rPr>
              <a:t>El benchmarking permitió identificar fortalezas diferentes en ambas plataformas. Indeed facilita la exploración de ofertas mediante una interfaz simple y una vista que integra listado y detalle. Bumeran ofrece filtros más específicos y una postulación más directa, aunque presenta mayor carga visual y requiere cambiar de vista para consultar cada oferta.</a:t>
            </a:r>
            <a:endParaRPr i="1" sz="1600">
              <a:solidFill>
                <a:srgbClr val="C3CBE6"/>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i="1" lang="en-US" sz="1600">
                <a:solidFill>
                  <a:srgbClr val="C3CBE6"/>
                </a:solidFill>
                <a:latin typeface="Calibri"/>
                <a:ea typeface="Calibri"/>
                <a:cs typeface="Calibri"/>
                <a:sym typeface="Calibri"/>
              </a:rPr>
              <a:t>Para una plataforma destinada a jóvenes que buscan su primer empleo, proponemos combinar claridad visual, filtros que permitan identificar oportunidades acordes a su experiencia y orientación durante la postulación. Estas características podrían facilitar una búsqueda más comprensible y autónoma.</a:t>
            </a:r>
            <a:endParaRPr i="1" sz="1600">
              <a:solidFill>
                <a:srgbClr val="C3CBE6"/>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i="1" lang="en-US" sz="1600">
                <a:solidFill>
                  <a:srgbClr val="C3CBE6"/>
                </a:solidFill>
                <a:latin typeface="Calibri"/>
                <a:ea typeface="Calibri"/>
                <a:cs typeface="Calibri"/>
                <a:sym typeface="Calibri"/>
              </a:rPr>
              <a:t>Las hipótesis generadas por IA ayudaron a orientar el análisis, pero no todas pudieron comprobarse mediante la navegación. Algunas requieren revisar requisitos de ofertas concretas, realizar pruebas con usuarios o seguir las postulaciones a lo largo del tiempo.</a:t>
            </a:r>
            <a:endParaRPr i="1" sz="1600">
              <a:solidFill>
                <a:srgbClr val="C3CBE6"/>
              </a:solidFill>
              <a:latin typeface="Calibri"/>
              <a:ea typeface="Calibri"/>
              <a:cs typeface="Calibri"/>
              <a:sym typeface="Calibri"/>
            </a:endParaRPr>
          </a:p>
          <a:p>
            <a:pPr indent="0" lvl="0" marL="0" marR="0" rtl="0" algn="l">
              <a:spcBef>
                <a:spcPts val="1200"/>
              </a:spcBef>
              <a:spcAft>
                <a:spcPts val="0"/>
              </a:spcAft>
              <a:buClr>
                <a:srgbClr val="C3CBE6"/>
              </a:buClr>
              <a:buSzPts val="1600"/>
              <a:buFont typeface="Calibri"/>
              <a:buNone/>
            </a:pPr>
            <a:r>
              <a:t/>
            </a:r>
            <a:endParaRPr i="1" sz="1600">
              <a:solidFill>
                <a:srgbClr val="C3CBE6"/>
              </a:solidFill>
              <a:latin typeface="Calibri"/>
              <a:ea typeface="Calibri"/>
              <a:cs typeface="Calibri"/>
              <a:sym typeface="Calibri"/>
            </a:endParaRPr>
          </a:p>
        </p:txBody>
      </p:sp>
      <p:sp>
        <p:nvSpPr>
          <p:cNvPr id="249" name="Google Shape;249;p15"/>
          <p:cNvSpPr txBox="1"/>
          <p:nvPr/>
        </p:nvSpPr>
        <p:spPr>
          <a:xfrm>
            <a:off x="457200" y="6382512"/>
            <a:ext cx="11277295"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2C14E"/>
              </a:buClr>
              <a:buSzPts val="1150"/>
              <a:buFont typeface="Calibri"/>
              <a:buNone/>
            </a:pPr>
            <a:r>
              <a:rPr b="1" i="0" lang="en-US" sz="1150" u="none" cap="none" strike="noStrike">
                <a:solidFill>
                  <a:srgbClr val="F2C14E"/>
                </a:solidFill>
                <a:latin typeface="Calibri"/>
                <a:ea typeface="Calibri"/>
                <a:cs typeface="Calibri"/>
                <a:sym typeface="Calibri"/>
              </a:rPr>
              <a:t>Lazzatti, Guerra y Regidor</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